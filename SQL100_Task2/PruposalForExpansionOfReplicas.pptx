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8"/>
      <p:bold r:id="rId9"/>
      <p:italic r:id="rId10"/>
      <p:boldItalic r:id="rId11"/>
    </p:embeddedFont>
    <p:embeddedFont>
      <p:font typeface="Poppins Bold" panose="00000800000000000000" pitchFamily="2" charset="0"/>
      <p:regular r:id="rId12"/>
      <p:bold r:id="rId13"/>
    </p:embeddedFont>
    <p:embeddedFont>
      <p:font typeface="Telegraf Bold" panose="020B0604020202020204" charset="0"/>
      <p:regular r:id="rId14"/>
    </p:embeddedFont>
    <p:embeddedFont>
      <p:font typeface="Telegraf Heavy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CA6413-A596-18B2-EB36-EF66A4F334A9}" v="6" dt="2026-02-25T04:54:33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5412" y="5857875"/>
            <a:ext cx="2925453" cy="1323554"/>
            <a:chOff x="0" y="0"/>
            <a:chExt cx="942759" cy="426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2759" cy="426530"/>
            </a:xfrm>
            <a:custGeom>
              <a:avLst/>
              <a:gdLst/>
              <a:ahLst/>
              <a:cxnLst/>
              <a:rect l="l" t="t" r="r" b="b"/>
              <a:pathLst>
                <a:path w="942759" h="426530">
                  <a:moveTo>
                    <a:pt x="134966" y="0"/>
                  </a:moveTo>
                  <a:lnTo>
                    <a:pt x="807793" y="0"/>
                  </a:lnTo>
                  <a:cubicBezTo>
                    <a:pt x="882333" y="0"/>
                    <a:pt x="942759" y="60427"/>
                    <a:pt x="942759" y="134966"/>
                  </a:cubicBezTo>
                  <a:lnTo>
                    <a:pt x="942759" y="291563"/>
                  </a:lnTo>
                  <a:cubicBezTo>
                    <a:pt x="942759" y="366103"/>
                    <a:pt x="882333" y="426530"/>
                    <a:pt x="807793" y="426530"/>
                  </a:cubicBezTo>
                  <a:lnTo>
                    <a:pt x="134966" y="426530"/>
                  </a:lnTo>
                  <a:cubicBezTo>
                    <a:pt x="60427" y="426530"/>
                    <a:pt x="0" y="366103"/>
                    <a:pt x="0" y="291563"/>
                  </a:cubicBezTo>
                  <a:lnTo>
                    <a:pt x="0" y="134966"/>
                  </a:lnTo>
                  <a:cubicBezTo>
                    <a:pt x="0" y="60427"/>
                    <a:pt x="60427" y="0"/>
                    <a:pt x="134966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55180" y="5857875"/>
            <a:ext cx="4939716" cy="1343905"/>
            <a:chOff x="0" y="0"/>
            <a:chExt cx="1567771" cy="426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7771" cy="426530"/>
            </a:xfrm>
            <a:custGeom>
              <a:avLst/>
              <a:gdLst/>
              <a:ahLst/>
              <a:cxnLst/>
              <a:rect l="l" t="t" r="r" b="b"/>
              <a:pathLst>
                <a:path w="1567771" h="426530">
                  <a:moveTo>
                    <a:pt x="79931" y="0"/>
                  </a:moveTo>
                  <a:lnTo>
                    <a:pt x="1487839" y="0"/>
                  </a:lnTo>
                  <a:cubicBezTo>
                    <a:pt x="1509038" y="0"/>
                    <a:pt x="1529369" y="8421"/>
                    <a:pt x="1544359" y="23411"/>
                  </a:cubicBezTo>
                  <a:cubicBezTo>
                    <a:pt x="1559349" y="38401"/>
                    <a:pt x="1567771" y="58732"/>
                    <a:pt x="1567771" y="79931"/>
                  </a:cubicBezTo>
                  <a:lnTo>
                    <a:pt x="1567771" y="346598"/>
                  </a:lnTo>
                  <a:cubicBezTo>
                    <a:pt x="1567771" y="367797"/>
                    <a:pt x="1559349" y="388128"/>
                    <a:pt x="1544359" y="403118"/>
                  </a:cubicBezTo>
                  <a:cubicBezTo>
                    <a:pt x="1529369" y="418108"/>
                    <a:pt x="1509038" y="426530"/>
                    <a:pt x="1487839" y="426530"/>
                  </a:cubicBezTo>
                  <a:lnTo>
                    <a:pt x="79931" y="426530"/>
                  </a:lnTo>
                  <a:cubicBezTo>
                    <a:pt x="58732" y="426530"/>
                    <a:pt x="38401" y="418108"/>
                    <a:pt x="23411" y="403118"/>
                  </a:cubicBezTo>
                  <a:cubicBezTo>
                    <a:pt x="8421" y="388128"/>
                    <a:pt x="0" y="367797"/>
                    <a:pt x="0" y="346598"/>
                  </a:cubicBezTo>
                  <a:lnTo>
                    <a:pt x="0" y="79931"/>
                  </a:lnTo>
                  <a:cubicBezTo>
                    <a:pt x="0" y="58732"/>
                    <a:pt x="8421" y="38401"/>
                    <a:pt x="23411" y="23411"/>
                  </a:cubicBezTo>
                  <a:cubicBezTo>
                    <a:pt x="38401" y="8421"/>
                    <a:pt x="58732" y="0"/>
                    <a:pt x="79931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862002" y="6861249"/>
            <a:ext cx="3970705" cy="3987229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893" y="6871163"/>
            <a:ext cx="3967400" cy="374645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5334" y="762559"/>
            <a:ext cx="10647844" cy="8761883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65412" y="1013574"/>
            <a:ext cx="8055317" cy="277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0"/>
              </a:lnSpc>
            </a:pPr>
            <a:r>
              <a:rPr lang="en-US" sz="6277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Proposal to Increase Database Replication from 3 to 10 Servers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14963" y="4392888"/>
            <a:ext cx="5780197" cy="750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90866" y="6274722"/>
            <a:ext cx="5129864" cy="47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264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coderujwal@gmail.com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6308" y="6235321"/>
            <a:ext cx="3424828" cy="56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6"/>
              </a:lnSpc>
            </a:pPr>
            <a:r>
              <a:rPr lang="en-US" sz="3118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Ujwal Singh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46" y="2858191"/>
            <a:ext cx="8146675" cy="6378318"/>
            <a:chOff x="0" y="0"/>
            <a:chExt cx="2145626" cy="16798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626" cy="1679886"/>
            </a:xfrm>
            <a:custGeom>
              <a:avLst/>
              <a:gdLst/>
              <a:ahLst/>
              <a:cxnLst/>
              <a:rect l="l" t="t" r="r" b="b"/>
              <a:pathLst>
                <a:path w="2145626" h="1679886">
                  <a:moveTo>
                    <a:pt x="48466" y="0"/>
                  </a:moveTo>
                  <a:lnTo>
                    <a:pt x="2097160" y="0"/>
                  </a:lnTo>
                  <a:cubicBezTo>
                    <a:pt x="2123927" y="0"/>
                    <a:pt x="2145626" y="21699"/>
                    <a:pt x="2145626" y="48466"/>
                  </a:cubicBezTo>
                  <a:lnTo>
                    <a:pt x="2145626" y="1631420"/>
                  </a:lnTo>
                  <a:cubicBezTo>
                    <a:pt x="2145626" y="1644274"/>
                    <a:pt x="2140520" y="1656602"/>
                    <a:pt x="2131431" y="1665691"/>
                  </a:cubicBezTo>
                  <a:cubicBezTo>
                    <a:pt x="2122342" y="1674780"/>
                    <a:pt x="2110014" y="1679886"/>
                    <a:pt x="2097160" y="1679886"/>
                  </a:cubicBezTo>
                  <a:lnTo>
                    <a:pt x="48466" y="1679886"/>
                  </a:lnTo>
                  <a:cubicBezTo>
                    <a:pt x="21699" y="1679886"/>
                    <a:pt x="0" y="1658187"/>
                    <a:pt x="0" y="1631420"/>
                  </a:cubicBezTo>
                  <a:lnTo>
                    <a:pt x="0" y="48466"/>
                  </a:lnTo>
                  <a:cubicBezTo>
                    <a:pt x="0" y="21699"/>
                    <a:pt x="21699" y="0"/>
                    <a:pt x="4846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45626" cy="171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41121" y="2879982"/>
            <a:ext cx="7726046" cy="6378318"/>
            <a:chOff x="0" y="0"/>
            <a:chExt cx="2034843" cy="16798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34843" cy="1679886"/>
            </a:xfrm>
            <a:custGeom>
              <a:avLst/>
              <a:gdLst/>
              <a:ahLst/>
              <a:cxnLst/>
              <a:rect l="l" t="t" r="r" b="b"/>
              <a:pathLst>
                <a:path w="2034843" h="1679886">
                  <a:moveTo>
                    <a:pt x="51105" y="0"/>
                  </a:moveTo>
                  <a:lnTo>
                    <a:pt x="1983738" y="0"/>
                  </a:lnTo>
                  <a:cubicBezTo>
                    <a:pt x="2011963" y="0"/>
                    <a:pt x="2034843" y="22880"/>
                    <a:pt x="2034843" y="51105"/>
                  </a:cubicBezTo>
                  <a:lnTo>
                    <a:pt x="2034843" y="1628781"/>
                  </a:lnTo>
                  <a:cubicBezTo>
                    <a:pt x="2034843" y="1642335"/>
                    <a:pt x="2029459" y="1655334"/>
                    <a:pt x="2019875" y="1664918"/>
                  </a:cubicBezTo>
                  <a:cubicBezTo>
                    <a:pt x="2010291" y="1674502"/>
                    <a:pt x="1997292" y="1679886"/>
                    <a:pt x="1983738" y="1679886"/>
                  </a:cubicBezTo>
                  <a:lnTo>
                    <a:pt x="51105" y="1679886"/>
                  </a:lnTo>
                  <a:cubicBezTo>
                    <a:pt x="22880" y="1679886"/>
                    <a:pt x="0" y="1657006"/>
                    <a:pt x="0" y="1628781"/>
                  </a:cubicBezTo>
                  <a:lnTo>
                    <a:pt x="0" y="51105"/>
                  </a:lnTo>
                  <a:cubicBezTo>
                    <a:pt x="0" y="22880"/>
                    <a:pt x="22880" y="0"/>
                    <a:pt x="5110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34843" cy="171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5400000">
            <a:off x="-1305594" y="5130735"/>
            <a:ext cx="5067554" cy="1693242"/>
            <a:chOff x="0" y="0"/>
            <a:chExt cx="1213200" cy="4053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3200" cy="405371"/>
            </a:xfrm>
            <a:custGeom>
              <a:avLst/>
              <a:gdLst/>
              <a:ahLst/>
              <a:cxnLst/>
              <a:rect l="l" t="t" r="r" b="b"/>
              <a:pathLst>
                <a:path w="1213200" h="405371">
                  <a:moveTo>
                    <a:pt x="77915" y="0"/>
                  </a:moveTo>
                  <a:lnTo>
                    <a:pt x="1135285" y="0"/>
                  </a:lnTo>
                  <a:cubicBezTo>
                    <a:pt x="1178316" y="0"/>
                    <a:pt x="1213200" y="34884"/>
                    <a:pt x="1213200" y="77915"/>
                  </a:cubicBezTo>
                  <a:lnTo>
                    <a:pt x="1213200" y="327456"/>
                  </a:lnTo>
                  <a:cubicBezTo>
                    <a:pt x="1213200" y="348121"/>
                    <a:pt x="1204991" y="367939"/>
                    <a:pt x="1190379" y="382550"/>
                  </a:cubicBezTo>
                  <a:cubicBezTo>
                    <a:pt x="1175767" y="397162"/>
                    <a:pt x="1155949" y="405371"/>
                    <a:pt x="1135285" y="405371"/>
                  </a:cubicBezTo>
                  <a:lnTo>
                    <a:pt x="77915" y="405371"/>
                  </a:lnTo>
                  <a:cubicBezTo>
                    <a:pt x="57251" y="405371"/>
                    <a:pt x="37433" y="397162"/>
                    <a:pt x="22821" y="382550"/>
                  </a:cubicBezTo>
                  <a:cubicBezTo>
                    <a:pt x="8209" y="367939"/>
                    <a:pt x="0" y="348121"/>
                    <a:pt x="0" y="327456"/>
                  </a:cubicBezTo>
                  <a:lnTo>
                    <a:pt x="0" y="77915"/>
                  </a:lnTo>
                  <a:cubicBezTo>
                    <a:pt x="0" y="57251"/>
                    <a:pt x="8209" y="37433"/>
                    <a:pt x="22821" y="22821"/>
                  </a:cubicBezTo>
                  <a:cubicBezTo>
                    <a:pt x="37433" y="8209"/>
                    <a:pt x="57251" y="0"/>
                    <a:pt x="77915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132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14520150" y="5131116"/>
            <a:ext cx="5066791" cy="1693242"/>
            <a:chOff x="0" y="0"/>
            <a:chExt cx="1213017" cy="4053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3017" cy="405371"/>
            </a:xfrm>
            <a:custGeom>
              <a:avLst/>
              <a:gdLst/>
              <a:ahLst/>
              <a:cxnLst/>
              <a:rect l="l" t="t" r="r" b="b"/>
              <a:pathLst>
                <a:path w="1213017" h="405371">
                  <a:moveTo>
                    <a:pt x="77927" y="0"/>
                  </a:moveTo>
                  <a:lnTo>
                    <a:pt x="1135091" y="0"/>
                  </a:lnTo>
                  <a:cubicBezTo>
                    <a:pt x="1155758" y="0"/>
                    <a:pt x="1175579" y="8210"/>
                    <a:pt x="1190193" y="22824"/>
                  </a:cubicBezTo>
                  <a:cubicBezTo>
                    <a:pt x="1204807" y="37438"/>
                    <a:pt x="1213017" y="57259"/>
                    <a:pt x="1213017" y="77927"/>
                  </a:cubicBezTo>
                  <a:lnTo>
                    <a:pt x="1213017" y="327445"/>
                  </a:lnTo>
                  <a:cubicBezTo>
                    <a:pt x="1213017" y="348112"/>
                    <a:pt x="1204807" y="367933"/>
                    <a:pt x="1190193" y="382547"/>
                  </a:cubicBezTo>
                  <a:cubicBezTo>
                    <a:pt x="1175579" y="397161"/>
                    <a:pt x="1155758" y="405371"/>
                    <a:pt x="1135091" y="405371"/>
                  </a:cubicBezTo>
                  <a:lnTo>
                    <a:pt x="77927" y="405371"/>
                  </a:lnTo>
                  <a:cubicBezTo>
                    <a:pt x="57259" y="405371"/>
                    <a:pt x="37438" y="397161"/>
                    <a:pt x="22824" y="382547"/>
                  </a:cubicBezTo>
                  <a:cubicBezTo>
                    <a:pt x="8210" y="367933"/>
                    <a:pt x="0" y="348112"/>
                    <a:pt x="0" y="327445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13017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46279" y="4260677"/>
            <a:ext cx="6186398" cy="3487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3573" lvl="1" indent="-306787" algn="l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</a:t>
            </a:r>
            <a:r>
              <a:rPr lang="en-US" sz="2841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 primary database server (read and write operations)</a:t>
            </a:r>
          </a:p>
          <a:p>
            <a:pPr marL="613573" lvl="1" indent="-306787" algn="l">
              <a:lnSpc>
                <a:spcPts val="3978"/>
              </a:lnSpc>
              <a:buFont typeface="Arial"/>
              <a:buChar char="•"/>
            </a:pPr>
            <a:r>
              <a:rPr lang="en-US" sz="2841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Three replica servers (read-only operations)</a:t>
            </a:r>
          </a:p>
          <a:p>
            <a:pPr marL="613573" lvl="1" indent="-306787" algn="l">
              <a:lnSpc>
                <a:spcPts val="3978"/>
              </a:lnSpc>
              <a:buFont typeface="Arial"/>
              <a:buChar char="•"/>
            </a:pPr>
            <a:r>
              <a:rPr lang="en-US" sz="2841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Average latency: 20 milliseconds</a:t>
            </a:r>
          </a:p>
          <a:p>
            <a:pPr marL="0" lvl="0" indent="0" algn="l">
              <a:lnSpc>
                <a:spcPts val="3978"/>
              </a:lnSpc>
            </a:pPr>
            <a:endParaRPr lang="en-US" sz="2841" u="none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78566" y="3449639"/>
            <a:ext cx="5960396" cy="506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3157" lvl="1" indent="-306578" algn="l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Increasing user traffic causing slower response times</a:t>
            </a:r>
          </a:p>
          <a:p>
            <a:pPr marL="613157" lvl="1" indent="-306578" algn="l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AReduced performance during peak usage</a:t>
            </a:r>
          </a:p>
          <a:p>
            <a:pPr marL="613157" lvl="1" indent="-306578" algn="l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Limited scalability for future growth</a:t>
            </a:r>
          </a:p>
          <a:p>
            <a:pPr marL="613157" lvl="1" indent="-306578" algn="l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Risk of service disruption if a replica fails</a:t>
            </a:r>
          </a:p>
          <a:p>
            <a:pPr marL="0" lvl="0" indent="0" algn="l">
              <a:lnSpc>
                <a:spcPts val="3976"/>
              </a:lnSpc>
            </a:pPr>
            <a:endParaRPr lang="en-US" sz="284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 rot="-5400000">
            <a:off x="-1423776" y="5572716"/>
            <a:ext cx="5066791" cy="810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3"/>
              </a:lnSpc>
            </a:pPr>
            <a:r>
              <a:rPr lang="en-US" sz="5036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configuration</a:t>
            </a:r>
          </a:p>
        </p:txBody>
      </p:sp>
      <p:sp>
        <p:nvSpPr>
          <p:cNvPr id="17" name="TextBox 17"/>
          <p:cNvSpPr txBox="1"/>
          <p:nvPr/>
        </p:nvSpPr>
        <p:spPr>
          <a:xfrm rot="5400000">
            <a:off x="15173689" y="5572716"/>
            <a:ext cx="3791605" cy="810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43"/>
              </a:lnSpc>
            </a:pPr>
            <a:r>
              <a:rPr lang="en-US" sz="5036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582" y="1005444"/>
            <a:ext cx="17449585" cy="1086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2"/>
              </a:lnSpc>
            </a:pPr>
            <a:r>
              <a:rPr lang="en-US" sz="8484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Current Database Environment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8271" y="771325"/>
            <a:ext cx="9131636" cy="3426641"/>
            <a:chOff x="0" y="0"/>
            <a:chExt cx="2506632" cy="9406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6632" cy="940612"/>
            </a:xfrm>
            <a:custGeom>
              <a:avLst/>
              <a:gdLst/>
              <a:ahLst/>
              <a:cxnLst/>
              <a:rect l="l" t="t" r="r" b="b"/>
              <a:pathLst>
                <a:path w="2506632" h="940612">
                  <a:moveTo>
                    <a:pt x="43238" y="0"/>
                  </a:moveTo>
                  <a:lnTo>
                    <a:pt x="2463393" y="0"/>
                  </a:lnTo>
                  <a:cubicBezTo>
                    <a:pt x="2474861" y="0"/>
                    <a:pt x="2485859" y="4555"/>
                    <a:pt x="2493967" y="12664"/>
                  </a:cubicBezTo>
                  <a:cubicBezTo>
                    <a:pt x="2502076" y="20773"/>
                    <a:pt x="2506632" y="31771"/>
                    <a:pt x="2506632" y="43238"/>
                  </a:cubicBezTo>
                  <a:lnTo>
                    <a:pt x="2506632" y="897374"/>
                  </a:lnTo>
                  <a:cubicBezTo>
                    <a:pt x="2506632" y="908841"/>
                    <a:pt x="2502076" y="919839"/>
                    <a:pt x="2493967" y="927948"/>
                  </a:cubicBezTo>
                  <a:cubicBezTo>
                    <a:pt x="2485859" y="936057"/>
                    <a:pt x="2474861" y="940612"/>
                    <a:pt x="2463393" y="940612"/>
                  </a:cubicBezTo>
                  <a:lnTo>
                    <a:pt x="43238" y="940612"/>
                  </a:lnTo>
                  <a:cubicBezTo>
                    <a:pt x="31771" y="940612"/>
                    <a:pt x="20773" y="936057"/>
                    <a:pt x="12664" y="927948"/>
                  </a:cubicBezTo>
                  <a:cubicBezTo>
                    <a:pt x="4555" y="919839"/>
                    <a:pt x="0" y="908841"/>
                    <a:pt x="0" y="897374"/>
                  </a:cubicBezTo>
                  <a:lnTo>
                    <a:pt x="0" y="43238"/>
                  </a:lnTo>
                  <a:cubicBezTo>
                    <a:pt x="0" y="31771"/>
                    <a:pt x="4555" y="20773"/>
                    <a:pt x="12664" y="12664"/>
                  </a:cubicBezTo>
                  <a:cubicBezTo>
                    <a:pt x="20773" y="4555"/>
                    <a:pt x="31771" y="0"/>
                    <a:pt x="43238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6632" cy="978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79468" y="4437683"/>
            <a:ext cx="5219121" cy="5151446"/>
            <a:chOff x="0" y="0"/>
            <a:chExt cx="1432647" cy="14140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2647" cy="1414071"/>
            </a:xfrm>
            <a:custGeom>
              <a:avLst/>
              <a:gdLst/>
              <a:ahLst/>
              <a:cxnLst/>
              <a:rect l="l" t="t" r="r" b="b"/>
              <a:pathLst>
                <a:path w="1432647" h="1414071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338419"/>
                  </a:lnTo>
                  <a:cubicBezTo>
                    <a:pt x="1432647" y="1380200"/>
                    <a:pt x="1398777" y="1414071"/>
                    <a:pt x="1356995" y="1414071"/>
                  </a:cubicBezTo>
                  <a:lnTo>
                    <a:pt x="75652" y="1414071"/>
                  </a:lnTo>
                  <a:cubicBezTo>
                    <a:pt x="33871" y="1414071"/>
                    <a:pt x="0" y="1380200"/>
                    <a:pt x="0" y="1338419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32647" cy="14521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17777" y="5314616"/>
            <a:ext cx="5402768" cy="4274513"/>
            <a:chOff x="0" y="0"/>
            <a:chExt cx="1432647" cy="11334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3081" y="0"/>
                  </a:moveTo>
                  <a:lnTo>
                    <a:pt x="1359567" y="0"/>
                  </a:lnTo>
                  <a:cubicBezTo>
                    <a:pt x="1378949" y="0"/>
                    <a:pt x="1397537" y="7700"/>
                    <a:pt x="1411243" y="21405"/>
                  </a:cubicBezTo>
                  <a:cubicBezTo>
                    <a:pt x="1424948" y="35110"/>
                    <a:pt x="1432647" y="53698"/>
                    <a:pt x="1432647" y="73081"/>
                  </a:cubicBezTo>
                  <a:lnTo>
                    <a:pt x="1432647" y="1060388"/>
                  </a:lnTo>
                  <a:cubicBezTo>
                    <a:pt x="1432647" y="1100750"/>
                    <a:pt x="1399928" y="1133469"/>
                    <a:pt x="1359567" y="1133469"/>
                  </a:cubicBezTo>
                  <a:lnTo>
                    <a:pt x="73081" y="1133469"/>
                  </a:lnTo>
                  <a:cubicBezTo>
                    <a:pt x="32719" y="1133469"/>
                    <a:pt x="0" y="1100750"/>
                    <a:pt x="0" y="1060388"/>
                  </a:cubicBezTo>
                  <a:lnTo>
                    <a:pt x="0" y="73081"/>
                  </a:lnTo>
                  <a:cubicBezTo>
                    <a:pt x="0" y="53698"/>
                    <a:pt x="7700" y="35110"/>
                    <a:pt x="21405" y="21405"/>
                  </a:cubicBezTo>
                  <a:cubicBezTo>
                    <a:pt x="35110" y="7700"/>
                    <a:pt x="53698" y="0"/>
                    <a:pt x="73081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16509" y="1028700"/>
            <a:ext cx="6542791" cy="3186452"/>
            <a:chOff x="0" y="0"/>
            <a:chExt cx="1499320" cy="7301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9320" cy="730195"/>
            </a:xfrm>
            <a:custGeom>
              <a:avLst/>
              <a:gdLst/>
              <a:ahLst/>
              <a:cxnLst/>
              <a:rect l="l" t="t" r="r" b="b"/>
              <a:pathLst>
                <a:path w="1499320" h="730195">
                  <a:moveTo>
                    <a:pt x="60347" y="0"/>
                  </a:moveTo>
                  <a:lnTo>
                    <a:pt x="1438973" y="0"/>
                  </a:lnTo>
                  <a:cubicBezTo>
                    <a:pt x="1472302" y="0"/>
                    <a:pt x="1499320" y="27018"/>
                    <a:pt x="1499320" y="60347"/>
                  </a:cubicBezTo>
                  <a:lnTo>
                    <a:pt x="1499320" y="669848"/>
                  </a:lnTo>
                  <a:cubicBezTo>
                    <a:pt x="1499320" y="703176"/>
                    <a:pt x="1472302" y="730195"/>
                    <a:pt x="1438973" y="730195"/>
                  </a:cubicBezTo>
                  <a:lnTo>
                    <a:pt x="60347" y="730195"/>
                  </a:lnTo>
                  <a:cubicBezTo>
                    <a:pt x="27018" y="730195"/>
                    <a:pt x="0" y="703176"/>
                    <a:pt x="0" y="669848"/>
                  </a:cubicBezTo>
                  <a:lnTo>
                    <a:pt x="0" y="60347"/>
                  </a:lnTo>
                  <a:cubicBezTo>
                    <a:pt x="0" y="27018"/>
                    <a:pt x="27018" y="0"/>
                    <a:pt x="60347" y="0"/>
                  </a:cubicBezTo>
                  <a:close/>
                </a:path>
              </a:pathLst>
            </a:custGeom>
            <a:solidFill>
              <a:srgbClr val="F4D0A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9320" cy="76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6434" y="5329225"/>
            <a:ext cx="5462009" cy="2660092"/>
            <a:chOff x="0" y="0"/>
            <a:chExt cx="1499320" cy="7301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99320" cy="730195"/>
            </a:xfrm>
            <a:custGeom>
              <a:avLst/>
              <a:gdLst/>
              <a:ahLst/>
              <a:cxnLst/>
              <a:rect l="l" t="t" r="r" b="b"/>
              <a:pathLst>
                <a:path w="1499320" h="730195">
                  <a:moveTo>
                    <a:pt x="72288" y="0"/>
                  </a:moveTo>
                  <a:lnTo>
                    <a:pt x="1427032" y="0"/>
                  </a:lnTo>
                  <a:cubicBezTo>
                    <a:pt x="1466956" y="0"/>
                    <a:pt x="1499320" y="32364"/>
                    <a:pt x="1499320" y="72288"/>
                  </a:cubicBezTo>
                  <a:lnTo>
                    <a:pt x="1499320" y="657907"/>
                  </a:lnTo>
                  <a:cubicBezTo>
                    <a:pt x="1499320" y="697830"/>
                    <a:pt x="1466956" y="730195"/>
                    <a:pt x="1427032" y="730195"/>
                  </a:cubicBezTo>
                  <a:lnTo>
                    <a:pt x="72288" y="730195"/>
                  </a:lnTo>
                  <a:cubicBezTo>
                    <a:pt x="32364" y="730195"/>
                    <a:pt x="0" y="697830"/>
                    <a:pt x="0" y="657907"/>
                  </a:cubicBezTo>
                  <a:lnTo>
                    <a:pt x="0" y="72288"/>
                  </a:lnTo>
                  <a:cubicBezTo>
                    <a:pt x="0" y="32364"/>
                    <a:pt x="32364" y="0"/>
                    <a:pt x="72288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99320" cy="768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7837291">
            <a:off x="9642862" y="165871"/>
            <a:ext cx="1725658" cy="1725658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687070" y="256476"/>
              <a:ext cx="4925060" cy="5832149"/>
            </a:xfrm>
            <a:custGeom>
              <a:avLst/>
              <a:gdLst/>
              <a:ahLst/>
              <a:cxnLst/>
              <a:rect l="l" t="t" r="r" b="b"/>
              <a:pathLst>
                <a:path w="4925060" h="5832149">
                  <a:moveTo>
                    <a:pt x="4922520" y="5709984"/>
                  </a:moveTo>
                  <a:cubicBezTo>
                    <a:pt x="4903470" y="5704904"/>
                    <a:pt x="4884420" y="5696014"/>
                    <a:pt x="4865370" y="5694744"/>
                  </a:cubicBezTo>
                  <a:cubicBezTo>
                    <a:pt x="4800600" y="5690934"/>
                    <a:pt x="4735830" y="5688394"/>
                    <a:pt x="4671060" y="5689664"/>
                  </a:cubicBezTo>
                  <a:cubicBezTo>
                    <a:pt x="3900170" y="5703634"/>
                    <a:pt x="3129280" y="5720144"/>
                    <a:pt x="2358390" y="5732844"/>
                  </a:cubicBezTo>
                  <a:cubicBezTo>
                    <a:pt x="2042160" y="5737924"/>
                    <a:pt x="1724660" y="5741734"/>
                    <a:pt x="1409700" y="5702364"/>
                  </a:cubicBezTo>
                  <a:cubicBezTo>
                    <a:pt x="1259840" y="5683314"/>
                    <a:pt x="1112520" y="5652834"/>
                    <a:pt x="979170" y="5579174"/>
                  </a:cubicBezTo>
                  <a:cubicBezTo>
                    <a:pt x="850900" y="5508054"/>
                    <a:pt x="758190" y="5405184"/>
                    <a:pt x="727710" y="5259134"/>
                  </a:cubicBezTo>
                  <a:cubicBezTo>
                    <a:pt x="712470" y="5184204"/>
                    <a:pt x="704850" y="5105464"/>
                    <a:pt x="704850" y="5029264"/>
                  </a:cubicBezTo>
                  <a:cubicBezTo>
                    <a:pt x="704850" y="4894644"/>
                    <a:pt x="713740" y="4761294"/>
                    <a:pt x="716280" y="4626674"/>
                  </a:cubicBezTo>
                  <a:cubicBezTo>
                    <a:pt x="722630" y="4158044"/>
                    <a:pt x="728980" y="3688144"/>
                    <a:pt x="731520" y="3219514"/>
                  </a:cubicBezTo>
                  <a:cubicBezTo>
                    <a:pt x="734060" y="2691194"/>
                    <a:pt x="726440" y="2162874"/>
                    <a:pt x="697230" y="1634554"/>
                  </a:cubicBezTo>
                  <a:cubicBezTo>
                    <a:pt x="693420" y="1576134"/>
                    <a:pt x="689610" y="1517714"/>
                    <a:pt x="685800" y="1458024"/>
                  </a:cubicBezTo>
                  <a:cubicBezTo>
                    <a:pt x="690880" y="1456754"/>
                    <a:pt x="694690" y="1454214"/>
                    <a:pt x="697230" y="1454214"/>
                  </a:cubicBezTo>
                  <a:cubicBezTo>
                    <a:pt x="878840" y="1459294"/>
                    <a:pt x="1061720" y="1463104"/>
                    <a:pt x="1243330" y="1469454"/>
                  </a:cubicBezTo>
                  <a:cubicBezTo>
                    <a:pt x="1257300" y="1469454"/>
                    <a:pt x="1275080" y="1482154"/>
                    <a:pt x="1285240" y="1493584"/>
                  </a:cubicBezTo>
                  <a:cubicBezTo>
                    <a:pt x="1328420" y="1543114"/>
                    <a:pt x="1375410" y="1587564"/>
                    <a:pt x="1440180" y="1606614"/>
                  </a:cubicBezTo>
                  <a:cubicBezTo>
                    <a:pt x="1480820" y="1619314"/>
                    <a:pt x="1521460" y="1620584"/>
                    <a:pt x="1560830" y="1602804"/>
                  </a:cubicBezTo>
                  <a:cubicBezTo>
                    <a:pt x="1612900" y="1578674"/>
                    <a:pt x="1620520" y="1522794"/>
                    <a:pt x="1576070" y="1487234"/>
                  </a:cubicBezTo>
                  <a:cubicBezTo>
                    <a:pt x="1562100" y="1475804"/>
                    <a:pt x="1545590" y="1465644"/>
                    <a:pt x="1529080" y="1459294"/>
                  </a:cubicBezTo>
                  <a:cubicBezTo>
                    <a:pt x="1483360" y="1442784"/>
                    <a:pt x="1436370" y="1427544"/>
                    <a:pt x="1389380" y="1416114"/>
                  </a:cubicBezTo>
                  <a:cubicBezTo>
                    <a:pt x="1356360" y="1408494"/>
                    <a:pt x="1336040" y="1393254"/>
                    <a:pt x="1319530" y="1364044"/>
                  </a:cubicBezTo>
                  <a:cubicBezTo>
                    <a:pt x="1234440" y="1210374"/>
                    <a:pt x="1173480" y="1047814"/>
                    <a:pt x="1123950" y="880174"/>
                  </a:cubicBezTo>
                  <a:cubicBezTo>
                    <a:pt x="1052830" y="633794"/>
                    <a:pt x="986790" y="384874"/>
                    <a:pt x="918210" y="137224"/>
                  </a:cubicBezTo>
                  <a:cubicBezTo>
                    <a:pt x="910590" y="108014"/>
                    <a:pt x="900430" y="78804"/>
                    <a:pt x="889000" y="49594"/>
                  </a:cubicBezTo>
                  <a:cubicBezTo>
                    <a:pt x="878840" y="24194"/>
                    <a:pt x="864870" y="2604"/>
                    <a:pt x="833120" y="64"/>
                  </a:cubicBezTo>
                  <a:cubicBezTo>
                    <a:pt x="803910" y="-1206"/>
                    <a:pt x="787400" y="16574"/>
                    <a:pt x="773430" y="38164"/>
                  </a:cubicBezTo>
                  <a:cubicBezTo>
                    <a:pt x="763270" y="53404"/>
                    <a:pt x="754380" y="69914"/>
                    <a:pt x="745490" y="85154"/>
                  </a:cubicBezTo>
                  <a:cubicBezTo>
                    <a:pt x="581660" y="370904"/>
                    <a:pt x="417830" y="655384"/>
                    <a:pt x="256540" y="939864"/>
                  </a:cubicBezTo>
                  <a:cubicBezTo>
                    <a:pt x="177800" y="1079564"/>
                    <a:pt x="101600" y="1220534"/>
                    <a:pt x="26670" y="1362774"/>
                  </a:cubicBezTo>
                  <a:cubicBezTo>
                    <a:pt x="12700" y="1388174"/>
                    <a:pt x="8890" y="1419924"/>
                    <a:pt x="0" y="1447864"/>
                  </a:cubicBezTo>
                  <a:cubicBezTo>
                    <a:pt x="2540" y="1450404"/>
                    <a:pt x="6350" y="1451674"/>
                    <a:pt x="8890" y="1454214"/>
                  </a:cubicBezTo>
                  <a:cubicBezTo>
                    <a:pt x="17780" y="1449134"/>
                    <a:pt x="27940" y="1444054"/>
                    <a:pt x="34290" y="1437704"/>
                  </a:cubicBezTo>
                  <a:cubicBezTo>
                    <a:pt x="62230" y="1405954"/>
                    <a:pt x="91440" y="1375474"/>
                    <a:pt x="114300" y="1341184"/>
                  </a:cubicBezTo>
                  <a:cubicBezTo>
                    <a:pt x="368300" y="966534"/>
                    <a:pt x="605790" y="582994"/>
                    <a:pt x="803910" y="175324"/>
                  </a:cubicBezTo>
                  <a:cubicBezTo>
                    <a:pt x="808990" y="165164"/>
                    <a:pt x="814070" y="156274"/>
                    <a:pt x="822960" y="141034"/>
                  </a:cubicBezTo>
                  <a:cubicBezTo>
                    <a:pt x="933450" y="566484"/>
                    <a:pt x="1008380" y="993204"/>
                    <a:pt x="1211580" y="1384364"/>
                  </a:cubicBezTo>
                  <a:cubicBezTo>
                    <a:pt x="1200150" y="1384364"/>
                    <a:pt x="1192530" y="1385634"/>
                    <a:pt x="1184910" y="1384364"/>
                  </a:cubicBezTo>
                  <a:cubicBezTo>
                    <a:pt x="955040" y="1356424"/>
                    <a:pt x="723900" y="1360234"/>
                    <a:pt x="492760" y="1361504"/>
                  </a:cubicBezTo>
                  <a:cubicBezTo>
                    <a:pt x="403860" y="1362774"/>
                    <a:pt x="316230" y="1375474"/>
                    <a:pt x="227330" y="1386904"/>
                  </a:cubicBezTo>
                  <a:cubicBezTo>
                    <a:pt x="193040" y="1390714"/>
                    <a:pt x="160020" y="1405954"/>
                    <a:pt x="127000" y="1417384"/>
                  </a:cubicBezTo>
                  <a:cubicBezTo>
                    <a:pt x="120650" y="1419924"/>
                    <a:pt x="111760" y="1430084"/>
                    <a:pt x="111760" y="1437704"/>
                  </a:cubicBezTo>
                  <a:cubicBezTo>
                    <a:pt x="111760" y="1444054"/>
                    <a:pt x="121920" y="1451674"/>
                    <a:pt x="129540" y="1454214"/>
                  </a:cubicBezTo>
                  <a:cubicBezTo>
                    <a:pt x="149860" y="1459294"/>
                    <a:pt x="170180" y="1463104"/>
                    <a:pt x="189230" y="1463104"/>
                  </a:cubicBezTo>
                  <a:cubicBezTo>
                    <a:pt x="303530" y="1461834"/>
                    <a:pt x="416560" y="1459294"/>
                    <a:pt x="530860" y="1458024"/>
                  </a:cubicBezTo>
                  <a:cubicBezTo>
                    <a:pt x="548640" y="1458024"/>
                    <a:pt x="566420" y="1458024"/>
                    <a:pt x="582930" y="1458024"/>
                  </a:cubicBezTo>
                  <a:cubicBezTo>
                    <a:pt x="582930" y="1525334"/>
                    <a:pt x="581660" y="1588834"/>
                    <a:pt x="582930" y="1652334"/>
                  </a:cubicBezTo>
                  <a:cubicBezTo>
                    <a:pt x="591820" y="2015554"/>
                    <a:pt x="607060" y="2378774"/>
                    <a:pt x="610870" y="2741994"/>
                  </a:cubicBezTo>
                  <a:cubicBezTo>
                    <a:pt x="615950" y="3331274"/>
                    <a:pt x="614680" y="3921824"/>
                    <a:pt x="613410" y="4511104"/>
                  </a:cubicBezTo>
                  <a:cubicBezTo>
                    <a:pt x="613410" y="4713034"/>
                    <a:pt x="601980" y="4913694"/>
                    <a:pt x="604520" y="5115624"/>
                  </a:cubicBezTo>
                  <a:cubicBezTo>
                    <a:pt x="607060" y="5290884"/>
                    <a:pt x="664210" y="5445824"/>
                    <a:pt x="800100" y="5565204"/>
                  </a:cubicBezTo>
                  <a:cubicBezTo>
                    <a:pt x="866140" y="5623624"/>
                    <a:pt x="942340" y="5666804"/>
                    <a:pt x="1024890" y="5699824"/>
                  </a:cubicBezTo>
                  <a:cubicBezTo>
                    <a:pt x="1172210" y="5758244"/>
                    <a:pt x="1327150" y="5784914"/>
                    <a:pt x="1483360" y="5801424"/>
                  </a:cubicBezTo>
                  <a:cubicBezTo>
                    <a:pt x="1781810" y="5833174"/>
                    <a:pt x="2081530" y="5834444"/>
                    <a:pt x="2381250" y="5830634"/>
                  </a:cubicBezTo>
                  <a:cubicBezTo>
                    <a:pt x="2992120" y="5823014"/>
                    <a:pt x="3601720" y="5810314"/>
                    <a:pt x="4212590" y="5800154"/>
                  </a:cubicBezTo>
                  <a:cubicBezTo>
                    <a:pt x="4423410" y="5796344"/>
                    <a:pt x="4634230" y="5784914"/>
                    <a:pt x="4842510" y="5754434"/>
                  </a:cubicBezTo>
                  <a:cubicBezTo>
                    <a:pt x="4870450" y="5750624"/>
                    <a:pt x="4897120" y="5739194"/>
                    <a:pt x="4925060" y="5731574"/>
                  </a:cubicBezTo>
                  <a:cubicBezTo>
                    <a:pt x="4923790" y="5721414"/>
                    <a:pt x="4922520" y="5715064"/>
                    <a:pt x="4922520" y="5709984"/>
                  </a:cubicBezTo>
                  <a:close/>
                  <a:moveTo>
                    <a:pt x="1478280" y="1493584"/>
                  </a:moveTo>
                  <a:cubicBezTo>
                    <a:pt x="1487170" y="1497394"/>
                    <a:pt x="1539240" y="1517714"/>
                    <a:pt x="1536700" y="1532954"/>
                  </a:cubicBezTo>
                  <a:cubicBezTo>
                    <a:pt x="1534160" y="1548194"/>
                    <a:pt x="1483360" y="1559624"/>
                    <a:pt x="1441450" y="1544384"/>
                  </a:cubicBezTo>
                  <a:cubicBezTo>
                    <a:pt x="1398270" y="1529144"/>
                    <a:pt x="1377950" y="1489774"/>
                    <a:pt x="1372870" y="1478344"/>
                  </a:cubicBezTo>
                  <a:cubicBezTo>
                    <a:pt x="1397000" y="1477074"/>
                    <a:pt x="1436370" y="1478344"/>
                    <a:pt x="1478280" y="1493584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898271" y="875308"/>
            <a:ext cx="9131636" cy="3322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59"/>
              </a:lnSpc>
            </a:pPr>
            <a:r>
              <a:rPr lang="en-US" sz="8359" b="1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Proposed Replication Expansion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77051" y="4644380"/>
            <a:ext cx="4823953" cy="1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Expected performance improvement: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7337" y="6844350"/>
            <a:ext cx="4703382" cy="223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3" lvl="1" indent="-226697" algn="ctr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Latency reduction from 20 ms to approximately 1 ms</a:t>
            </a:r>
          </a:p>
          <a:p>
            <a:pPr marL="453393" lvl="1" indent="-226697" algn="ctr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Faster query execution</a:t>
            </a:r>
          </a:p>
          <a:p>
            <a:pPr marL="453393" lvl="1" indent="-226697" algn="ctr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Improved application responsiveness</a:t>
            </a:r>
          </a:p>
          <a:p>
            <a:pPr marL="453393" lvl="1" indent="-226697" algn="ctr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Better user experience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83967" y="5494422"/>
            <a:ext cx="7070389" cy="1368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7"/>
              </a:lnSpc>
            </a:pPr>
            <a:r>
              <a:rPr lang="en-US" sz="4347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Proposed </a:t>
            </a:r>
          </a:p>
          <a:p>
            <a:pPr algn="ctr">
              <a:lnSpc>
                <a:spcPts val="5217"/>
              </a:lnSpc>
            </a:pPr>
            <a:r>
              <a:rPr lang="en-US" sz="4347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configuration:</a:t>
            </a:r>
          </a:p>
          <a:p>
            <a:pPr marL="0" lvl="0" indent="0" algn="ctr">
              <a:lnSpc>
                <a:spcPts val="5217"/>
              </a:lnSpc>
            </a:pPr>
            <a:endParaRPr lang="en-US" sz="4347" b="1">
              <a:solidFill>
                <a:srgbClr val="1A1A1A"/>
              </a:solidFill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056970" y="6834825"/>
            <a:ext cx="3724383" cy="2318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9347" lvl="1" indent="-234673" algn="ctr">
              <a:lnSpc>
                <a:spcPts val="3043"/>
              </a:lnSpc>
              <a:buFont typeface="Arial"/>
              <a:buChar char="•"/>
            </a:pPr>
            <a:r>
              <a:rPr lang="en-US" sz="2173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One primary database server for writes</a:t>
            </a:r>
          </a:p>
          <a:p>
            <a:pPr marL="469347" lvl="1" indent="-234673" algn="ctr">
              <a:lnSpc>
                <a:spcPts val="3043"/>
              </a:lnSpc>
              <a:buFont typeface="Arial"/>
              <a:buChar char="•"/>
            </a:pPr>
            <a:r>
              <a:rPr lang="en-US" sz="2173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Ten replica servers for read operations</a:t>
            </a:r>
          </a:p>
          <a:p>
            <a:pPr marL="469347" lvl="1" indent="-234673" algn="ctr">
              <a:lnSpc>
                <a:spcPts val="3043"/>
              </a:lnSpc>
              <a:buFont typeface="Arial"/>
              <a:buChar char="•"/>
            </a:pPr>
            <a:r>
              <a:rPr lang="en-US" sz="2173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Distributed read traffic across replicas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59904" y="1351217"/>
            <a:ext cx="5856000" cy="243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85"/>
              </a:lnSpc>
            </a:pPr>
            <a:r>
              <a:rPr lang="en-US" sz="3418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We propose increasing database replicas from 3 to 10 servers using single-primary replication.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3105" y="5600209"/>
            <a:ext cx="4888667" cy="203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4"/>
              </a:lnSpc>
            </a:pPr>
            <a:r>
              <a:rPr lang="en-US" sz="2853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That additional replicas allow read traffic to be distributed efficiently and reduce response time.</a:t>
            </a:r>
          </a:p>
        </p:txBody>
      </p:sp>
      <p:grpSp>
        <p:nvGrpSpPr>
          <p:cNvPr id="26" name="Group 26"/>
          <p:cNvGrpSpPr/>
          <p:nvPr/>
        </p:nvGrpSpPr>
        <p:grpSpPr>
          <a:xfrm rot="-8550507">
            <a:off x="5211454" y="4267044"/>
            <a:ext cx="1386792" cy="1386792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687070" y="256476"/>
              <a:ext cx="4925060" cy="5832149"/>
            </a:xfrm>
            <a:custGeom>
              <a:avLst/>
              <a:gdLst/>
              <a:ahLst/>
              <a:cxnLst/>
              <a:rect l="l" t="t" r="r" b="b"/>
              <a:pathLst>
                <a:path w="4925060" h="5832149">
                  <a:moveTo>
                    <a:pt x="4922520" y="5709984"/>
                  </a:moveTo>
                  <a:cubicBezTo>
                    <a:pt x="4903470" y="5704904"/>
                    <a:pt x="4884420" y="5696014"/>
                    <a:pt x="4865370" y="5694744"/>
                  </a:cubicBezTo>
                  <a:cubicBezTo>
                    <a:pt x="4800600" y="5690934"/>
                    <a:pt x="4735830" y="5688394"/>
                    <a:pt x="4671060" y="5689664"/>
                  </a:cubicBezTo>
                  <a:cubicBezTo>
                    <a:pt x="3900170" y="5703634"/>
                    <a:pt x="3129280" y="5720144"/>
                    <a:pt x="2358390" y="5732844"/>
                  </a:cubicBezTo>
                  <a:cubicBezTo>
                    <a:pt x="2042160" y="5737924"/>
                    <a:pt x="1724660" y="5741734"/>
                    <a:pt x="1409700" y="5702364"/>
                  </a:cubicBezTo>
                  <a:cubicBezTo>
                    <a:pt x="1259840" y="5683314"/>
                    <a:pt x="1112520" y="5652834"/>
                    <a:pt x="979170" y="5579174"/>
                  </a:cubicBezTo>
                  <a:cubicBezTo>
                    <a:pt x="850900" y="5508054"/>
                    <a:pt x="758190" y="5405184"/>
                    <a:pt x="727710" y="5259134"/>
                  </a:cubicBezTo>
                  <a:cubicBezTo>
                    <a:pt x="712470" y="5184204"/>
                    <a:pt x="704850" y="5105464"/>
                    <a:pt x="704850" y="5029264"/>
                  </a:cubicBezTo>
                  <a:cubicBezTo>
                    <a:pt x="704850" y="4894644"/>
                    <a:pt x="713740" y="4761294"/>
                    <a:pt x="716280" y="4626674"/>
                  </a:cubicBezTo>
                  <a:cubicBezTo>
                    <a:pt x="722630" y="4158044"/>
                    <a:pt x="728980" y="3688144"/>
                    <a:pt x="731520" y="3219514"/>
                  </a:cubicBezTo>
                  <a:cubicBezTo>
                    <a:pt x="734060" y="2691194"/>
                    <a:pt x="726440" y="2162874"/>
                    <a:pt x="697230" y="1634554"/>
                  </a:cubicBezTo>
                  <a:cubicBezTo>
                    <a:pt x="693420" y="1576134"/>
                    <a:pt x="689610" y="1517714"/>
                    <a:pt x="685800" y="1458024"/>
                  </a:cubicBezTo>
                  <a:cubicBezTo>
                    <a:pt x="690880" y="1456754"/>
                    <a:pt x="694690" y="1454214"/>
                    <a:pt x="697230" y="1454214"/>
                  </a:cubicBezTo>
                  <a:cubicBezTo>
                    <a:pt x="878840" y="1459294"/>
                    <a:pt x="1061720" y="1463104"/>
                    <a:pt x="1243330" y="1469454"/>
                  </a:cubicBezTo>
                  <a:cubicBezTo>
                    <a:pt x="1257300" y="1469454"/>
                    <a:pt x="1275080" y="1482154"/>
                    <a:pt x="1285240" y="1493584"/>
                  </a:cubicBezTo>
                  <a:cubicBezTo>
                    <a:pt x="1328420" y="1543114"/>
                    <a:pt x="1375410" y="1587564"/>
                    <a:pt x="1440180" y="1606614"/>
                  </a:cubicBezTo>
                  <a:cubicBezTo>
                    <a:pt x="1480820" y="1619314"/>
                    <a:pt x="1521460" y="1620584"/>
                    <a:pt x="1560830" y="1602804"/>
                  </a:cubicBezTo>
                  <a:cubicBezTo>
                    <a:pt x="1612900" y="1578674"/>
                    <a:pt x="1620520" y="1522794"/>
                    <a:pt x="1576070" y="1487234"/>
                  </a:cubicBezTo>
                  <a:cubicBezTo>
                    <a:pt x="1562100" y="1475804"/>
                    <a:pt x="1545590" y="1465644"/>
                    <a:pt x="1529080" y="1459294"/>
                  </a:cubicBezTo>
                  <a:cubicBezTo>
                    <a:pt x="1483360" y="1442784"/>
                    <a:pt x="1436370" y="1427544"/>
                    <a:pt x="1389380" y="1416114"/>
                  </a:cubicBezTo>
                  <a:cubicBezTo>
                    <a:pt x="1356360" y="1408494"/>
                    <a:pt x="1336040" y="1393254"/>
                    <a:pt x="1319530" y="1364044"/>
                  </a:cubicBezTo>
                  <a:cubicBezTo>
                    <a:pt x="1234440" y="1210374"/>
                    <a:pt x="1173480" y="1047814"/>
                    <a:pt x="1123950" y="880174"/>
                  </a:cubicBezTo>
                  <a:cubicBezTo>
                    <a:pt x="1052830" y="633794"/>
                    <a:pt x="986790" y="384874"/>
                    <a:pt x="918210" y="137224"/>
                  </a:cubicBezTo>
                  <a:cubicBezTo>
                    <a:pt x="910590" y="108014"/>
                    <a:pt x="900430" y="78804"/>
                    <a:pt x="889000" y="49594"/>
                  </a:cubicBezTo>
                  <a:cubicBezTo>
                    <a:pt x="878840" y="24194"/>
                    <a:pt x="864870" y="2604"/>
                    <a:pt x="833120" y="64"/>
                  </a:cubicBezTo>
                  <a:cubicBezTo>
                    <a:pt x="803910" y="-1206"/>
                    <a:pt x="787400" y="16574"/>
                    <a:pt x="773430" y="38164"/>
                  </a:cubicBezTo>
                  <a:cubicBezTo>
                    <a:pt x="763270" y="53404"/>
                    <a:pt x="754380" y="69914"/>
                    <a:pt x="745490" y="85154"/>
                  </a:cubicBezTo>
                  <a:cubicBezTo>
                    <a:pt x="581660" y="370904"/>
                    <a:pt x="417830" y="655384"/>
                    <a:pt x="256540" y="939864"/>
                  </a:cubicBezTo>
                  <a:cubicBezTo>
                    <a:pt x="177800" y="1079564"/>
                    <a:pt x="101600" y="1220534"/>
                    <a:pt x="26670" y="1362774"/>
                  </a:cubicBezTo>
                  <a:cubicBezTo>
                    <a:pt x="12700" y="1388174"/>
                    <a:pt x="8890" y="1419924"/>
                    <a:pt x="0" y="1447864"/>
                  </a:cubicBezTo>
                  <a:cubicBezTo>
                    <a:pt x="2540" y="1450404"/>
                    <a:pt x="6350" y="1451674"/>
                    <a:pt x="8890" y="1454214"/>
                  </a:cubicBezTo>
                  <a:cubicBezTo>
                    <a:pt x="17780" y="1449134"/>
                    <a:pt x="27940" y="1444054"/>
                    <a:pt x="34290" y="1437704"/>
                  </a:cubicBezTo>
                  <a:cubicBezTo>
                    <a:pt x="62230" y="1405954"/>
                    <a:pt x="91440" y="1375474"/>
                    <a:pt x="114300" y="1341184"/>
                  </a:cubicBezTo>
                  <a:cubicBezTo>
                    <a:pt x="368300" y="966534"/>
                    <a:pt x="605790" y="582994"/>
                    <a:pt x="803910" y="175324"/>
                  </a:cubicBezTo>
                  <a:cubicBezTo>
                    <a:pt x="808990" y="165164"/>
                    <a:pt x="814070" y="156274"/>
                    <a:pt x="822960" y="141034"/>
                  </a:cubicBezTo>
                  <a:cubicBezTo>
                    <a:pt x="933450" y="566484"/>
                    <a:pt x="1008380" y="993204"/>
                    <a:pt x="1211580" y="1384364"/>
                  </a:cubicBezTo>
                  <a:cubicBezTo>
                    <a:pt x="1200150" y="1384364"/>
                    <a:pt x="1192530" y="1385634"/>
                    <a:pt x="1184910" y="1384364"/>
                  </a:cubicBezTo>
                  <a:cubicBezTo>
                    <a:pt x="955040" y="1356424"/>
                    <a:pt x="723900" y="1360234"/>
                    <a:pt x="492760" y="1361504"/>
                  </a:cubicBezTo>
                  <a:cubicBezTo>
                    <a:pt x="403860" y="1362774"/>
                    <a:pt x="316230" y="1375474"/>
                    <a:pt x="227330" y="1386904"/>
                  </a:cubicBezTo>
                  <a:cubicBezTo>
                    <a:pt x="193040" y="1390714"/>
                    <a:pt x="160020" y="1405954"/>
                    <a:pt x="127000" y="1417384"/>
                  </a:cubicBezTo>
                  <a:cubicBezTo>
                    <a:pt x="120650" y="1419924"/>
                    <a:pt x="111760" y="1430084"/>
                    <a:pt x="111760" y="1437704"/>
                  </a:cubicBezTo>
                  <a:cubicBezTo>
                    <a:pt x="111760" y="1444054"/>
                    <a:pt x="121920" y="1451674"/>
                    <a:pt x="129540" y="1454214"/>
                  </a:cubicBezTo>
                  <a:cubicBezTo>
                    <a:pt x="149860" y="1459294"/>
                    <a:pt x="170180" y="1463104"/>
                    <a:pt x="189230" y="1463104"/>
                  </a:cubicBezTo>
                  <a:cubicBezTo>
                    <a:pt x="303530" y="1461834"/>
                    <a:pt x="416560" y="1459294"/>
                    <a:pt x="530860" y="1458024"/>
                  </a:cubicBezTo>
                  <a:cubicBezTo>
                    <a:pt x="548640" y="1458024"/>
                    <a:pt x="566420" y="1458024"/>
                    <a:pt x="582930" y="1458024"/>
                  </a:cubicBezTo>
                  <a:cubicBezTo>
                    <a:pt x="582930" y="1525334"/>
                    <a:pt x="581660" y="1588834"/>
                    <a:pt x="582930" y="1652334"/>
                  </a:cubicBezTo>
                  <a:cubicBezTo>
                    <a:pt x="591820" y="2015554"/>
                    <a:pt x="607060" y="2378774"/>
                    <a:pt x="610870" y="2741994"/>
                  </a:cubicBezTo>
                  <a:cubicBezTo>
                    <a:pt x="615950" y="3331274"/>
                    <a:pt x="614680" y="3921824"/>
                    <a:pt x="613410" y="4511104"/>
                  </a:cubicBezTo>
                  <a:cubicBezTo>
                    <a:pt x="613410" y="4713034"/>
                    <a:pt x="601980" y="4913694"/>
                    <a:pt x="604520" y="5115624"/>
                  </a:cubicBezTo>
                  <a:cubicBezTo>
                    <a:pt x="607060" y="5290884"/>
                    <a:pt x="664210" y="5445824"/>
                    <a:pt x="800100" y="5565204"/>
                  </a:cubicBezTo>
                  <a:cubicBezTo>
                    <a:pt x="866140" y="5623624"/>
                    <a:pt x="942340" y="5666804"/>
                    <a:pt x="1024890" y="5699824"/>
                  </a:cubicBezTo>
                  <a:cubicBezTo>
                    <a:pt x="1172210" y="5758244"/>
                    <a:pt x="1327150" y="5784914"/>
                    <a:pt x="1483360" y="5801424"/>
                  </a:cubicBezTo>
                  <a:cubicBezTo>
                    <a:pt x="1781810" y="5833174"/>
                    <a:pt x="2081530" y="5834444"/>
                    <a:pt x="2381250" y="5830634"/>
                  </a:cubicBezTo>
                  <a:cubicBezTo>
                    <a:pt x="2992120" y="5823014"/>
                    <a:pt x="3601720" y="5810314"/>
                    <a:pt x="4212590" y="5800154"/>
                  </a:cubicBezTo>
                  <a:cubicBezTo>
                    <a:pt x="4423410" y="5796344"/>
                    <a:pt x="4634230" y="5784914"/>
                    <a:pt x="4842510" y="5754434"/>
                  </a:cubicBezTo>
                  <a:cubicBezTo>
                    <a:pt x="4870450" y="5750624"/>
                    <a:pt x="4897120" y="5739194"/>
                    <a:pt x="4925060" y="5731574"/>
                  </a:cubicBezTo>
                  <a:cubicBezTo>
                    <a:pt x="4923790" y="5721414"/>
                    <a:pt x="4922520" y="5715064"/>
                    <a:pt x="4922520" y="5709984"/>
                  </a:cubicBezTo>
                  <a:close/>
                  <a:moveTo>
                    <a:pt x="1478280" y="1493584"/>
                  </a:moveTo>
                  <a:cubicBezTo>
                    <a:pt x="1487170" y="1497394"/>
                    <a:pt x="1539240" y="1517714"/>
                    <a:pt x="1536700" y="1532954"/>
                  </a:cubicBezTo>
                  <a:cubicBezTo>
                    <a:pt x="1534160" y="1548194"/>
                    <a:pt x="1483360" y="1559624"/>
                    <a:pt x="1441450" y="1544384"/>
                  </a:cubicBezTo>
                  <a:cubicBezTo>
                    <a:pt x="1398270" y="1529144"/>
                    <a:pt x="1377950" y="1489774"/>
                    <a:pt x="1372870" y="1478344"/>
                  </a:cubicBezTo>
                  <a:cubicBezTo>
                    <a:pt x="1397000" y="1477074"/>
                    <a:pt x="1436370" y="1478344"/>
                    <a:pt x="1478280" y="1493584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3045398"/>
            <a:chOff x="0" y="0"/>
            <a:chExt cx="4274726" cy="802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802080"/>
            </a:xfrm>
            <a:custGeom>
              <a:avLst/>
              <a:gdLst/>
              <a:ahLst/>
              <a:cxnLst/>
              <a:rect l="l" t="t" r="r" b="b"/>
              <a:pathLst>
                <a:path w="4274726" h="802080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777753"/>
                  </a:lnTo>
                  <a:cubicBezTo>
                    <a:pt x="4274726" y="784205"/>
                    <a:pt x="4272163" y="790393"/>
                    <a:pt x="4267601" y="794955"/>
                  </a:cubicBezTo>
                  <a:cubicBezTo>
                    <a:pt x="4263039" y="799517"/>
                    <a:pt x="4256851" y="802080"/>
                    <a:pt x="4250399" y="802080"/>
                  </a:cubicBezTo>
                  <a:lnTo>
                    <a:pt x="24327" y="802080"/>
                  </a:lnTo>
                  <a:cubicBezTo>
                    <a:pt x="10891" y="802080"/>
                    <a:pt x="0" y="791189"/>
                    <a:pt x="0" y="77775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840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4971" y="4630806"/>
            <a:ext cx="3957889" cy="4879517"/>
            <a:chOff x="0" y="0"/>
            <a:chExt cx="2025440" cy="24970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25441" cy="2497082"/>
            </a:xfrm>
            <a:custGeom>
              <a:avLst/>
              <a:gdLst/>
              <a:ahLst/>
              <a:cxnLst/>
              <a:rect l="l" t="t" r="r" b="b"/>
              <a:pathLst>
                <a:path w="2025441" h="2497082">
                  <a:moveTo>
                    <a:pt x="99760" y="0"/>
                  </a:moveTo>
                  <a:lnTo>
                    <a:pt x="1925681" y="0"/>
                  </a:lnTo>
                  <a:cubicBezTo>
                    <a:pt x="1952139" y="0"/>
                    <a:pt x="1977513" y="10510"/>
                    <a:pt x="1996222" y="29219"/>
                  </a:cubicBezTo>
                  <a:cubicBezTo>
                    <a:pt x="2014930" y="47928"/>
                    <a:pt x="2025441" y="73302"/>
                    <a:pt x="2025441" y="99760"/>
                  </a:cubicBezTo>
                  <a:lnTo>
                    <a:pt x="2025441" y="2397322"/>
                  </a:lnTo>
                  <a:cubicBezTo>
                    <a:pt x="2025441" y="2423780"/>
                    <a:pt x="2014930" y="2449154"/>
                    <a:pt x="1996222" y="2467863"/>
                  </a:cubicBezTo>
                  <a:cubicBezTo>
                    <a:pt x="1977513" y="2486571"/>
                    <a:pt x="1952139" y="2497082"/>
                    <a:pt x="1925681" y="2497082"/>
                  </a:cubicBezTo>
                  <a:lnTo>
                    <a:pt x="99760" y="2497082"/>
                  </a:lnTo>
                  <a:cubicBezTo>
                    <a:pt x="73302" y="2497082"/>
                    <a:pt x="47928" y="2486571"/>
                    <a:pt x="29219" y="2467863"/>
                  </a:cubicBezTo>
                  <a:cubicBezTo>
                    <a:pt x="10510" y="2449154"/>
                    <a:pt x="0" y="2423780"/>
                    <a:pt x="0" y="2397322"/>
                  </a:cubicBezTo>
                  <a:lnTo>
                    <a:pt x="0" y="99760"/>
                  </a:lnTo>
                  <a:cubicBezTo>
                    <a:pt x="0" y="73302"/>
                    <a:pt x="10510" y="47928"/>
                    <a:pt x="29219" y="29219"/>
                  </a:cubicBezTo>
                  <a:cubicBezTo>
                    <a:pt x="47928" y="10510"/>
                    <a:pt x="73302" y="0"/>
                    <a:pt x="997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25440" cy="2535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78361" y="4630806"/>
            <a:ext cx="3957889" cy="4879517"/>
            <a:chOff x="0" y="0"/>
            <a:chExt cx="2025440" cy="24970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5441" cy="2497082"/>
            </a:xfrm>
            <a:custGeom>
              <a:avLst/>
              <a:gdLst/>
              <a:ahLst/>
              <a:cxnLst/>
              <a:rect l="l" t="t" r="r" b="b"/>
              <a:pathLst>
                <a:path w="2025441" h="2497082">
                  <a:moveTo>
                    <a:pt x="99760" y="0"/>
                  </a:moveTo>
                  <a:lnTo>
                    <a:pt x="1925681" y="0"/>
                  </a:lnTo>
                  <a:cubicBezTo>
                    <a:pt x="1952139" y="0"/>
                    <a:pt x="1977513" y="10510"/>
                    <a:pt x="1996222" y="29219"/>
                  </a:cubicBezTo>
                  <a:cubicBezTo>
                    <a:pt x="2014930" y="47928"/>
                    <a:pt x="2025441" y="73302"/>
                    <a:pt x="2025441" y="99760"/>
                  </a:cubicBezTo>
                  <a:lnTo>
                    <a:pt x="2025441" y="2397322"/>
                  </a:lnTo>
                  <a:cubicBezTo>
                    <a:pt x="2025441" y="2423780"/>
                    <a:pt x="2014930" y="2449154"/>
                    <a:pt x="1996222" y="2467863"/>
                  </a:cubicBezTo>
                  <a:cubicBezTo>
                    <a:pt x="1977513" y="2486571"/>
                    <a:pt x="1952139" y="2497082"/>
                    <a:pt x="1925681" y="2497082"/>
                  </a:cubicBezTo>
                  <a:lnTo>
                    <a:pt x="99760" y="2497082"/>
                  </a:lnTo>
                  <a:cubicBezTo>
                    <a:pt x="73302" y="2497082"/>
                    <a:pt x="47928" y="2486571"/>
                    <a:pt x="29219" y="2467863"/>
                  </a:cubicBezTo>
                  <a:cubicBezTo>
                    <a:pt x="10510" y="2449154"/>
                    <a:pt x="0" y="2423780"/>
                    <a:pt x="0" y="2397322"/>
                  </a:cubicBezTo>
                  <a:lnTo>
                    <a:pt x="0" y="99760"/>
                  </a:lnTo>
                  <a:cubicBezTo>
                    <a:pt x="0" y="73302"/>
                    <a:pt x="10510" y="47928"/>
                    <a:pt x="29219" y="29219"/>
                  </a:cubicBezTo>
                  <a:cubicBezTo>
                    <a:pt x="47928" y="10510"/>
                    <a:pt x="73302" y="0"/>
                    <a:pt x="997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25440" cy="2535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51750" y="4630806"/>
            <a:ext cx="3957889" cy="4879517"/>
            <a:chOff x="0" y="0"/>
            <a:chExt cx="2025440" cy="24970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25441" cy="2497082"/>
            </a:xfrm>
            <a:custGeom>
              <a:avLst/>
              <a:gdLst/>
              <a:ahLst/>
              <a:cxnLst/>
              <a:rect l="l" t="t" r="r" b="b"/>
              <a:pathLst>
                <a:path w="2025441" h="2497082">
                  <a:moveTo>
                    <a:pt x="99760" y="0"/>
                  </a:moveTo>
                  <a:lnTo>
                    <a:pt x="1925681" y="0"/>
                  </a:lnTo>
                  <a:cubicBezTo>
                    <a:pt x="1952139" y="0"/>
                    <a:pt x="1977513" y="10510"/>
                    <a:pt x="1996222" y="29219"/>
                  </a:cubicBezTo>
                  <a:cubicBezTo>
                    <a:pt x="2014930" y="47928"/>
                    <a:pt x="2025441" y="73302"/>
                    <a:pt x="2025441" y="99760"/>
                  </a:cubicBezTo>
                  <a:lnTo>
                    <a:pt x="2025441" y="2397322"/>
                  </a:lnTo>
                  <a:cubicBezTo>
                    <a:pt x="2025441" y="2423780"/>
                    <a:pt x="2014930" y="2449154"/>
                    <a:pt x="1996222" y="2467863"/>
                  </a:cubicBezTo>
                  <a:cubicBezTo>
                    <a:pt x="1977513" y="2486571"/>
                    <a:pt x="1952139" y="2497082"/>
                    <a:pt x="1925681" y="2497082"/>
                  </a:cubicBezTo>
                  <a:lnTo>
                    <a:pt x="99760" y="2497082"/>
                  </a:lnTo>
                  <a:cubicBezTo>
                    <a:pt x="73302" y="2497082"/>
                    <a:pt x="47928" y="2486571"/>
                    <a:pt x="29219" y="2467863"/>
                  </a:cubicBezTo>
                  <a:cubicBezTo>
                    <a:pt x="10510" y="2449154"/>
                    <a:pt x="0" y="2423780"/>
                    <a:pt x="0" y="2397322"/>
                  </a:cubicBezTo>
                  <a:lnTo>
                    <a:pt x="0" y="99760"/>
                  </a:lnTo>
                  <a:cubicBezTo>
                    <a:pt x="0" y="73302"/>
                    <a:pt x="10510" y="47928"/>
                    <a:pt x="29219" y="29219"/>
                  </a:cubicBezTo>
                  <a:cubicBezTo>
                    <a:pt x="47928" y="10510"/>
                    <a:pt x="73302" y="0"/>
                    <a:pt x="997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25440" cy="2535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25140" y="4630806"/>
            <a:ext cx="3957889" cy="5016984"/>
            <a:chOff x="0" y="0"/>
            <a:chExt cx="2025440" cy="25674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25441" cy="2567430"/>
            </a:xfrm>
            <a:custGeom>
              <a:avLst/>
              <a:gdLst/>
              <a:ahLst/>
              <a:cxnLst/>
              <a:rect l="l" t="t" r="r" b="b"/>
              <a:pathLst>
                <a:path w="2025441" h="2567430">
                  <a:moveTo>
                    <a:pt x="99760" y="0"/>
                  </a:moveTo>
                  <a:lnTo>
                    <a:pt x="1925681" y="0"/>
                  </a:lnTo>
                  <a:cubicBezTo>
                    <a:pt x="1952139" y="0"/>
                    <a:pt x="1977513" y="10510"/>
                    <a:pt x="1996222" y="29219"/>
                  </a:cubicBezTo>
                  <a:cubicBezTo>
                    <a:pt x="2014930" y="47928"/>
                    <a:pt x="2025441" y="73302"/>
                    <a:pt x="2025441" y="99760"/>
                  </a:cubicBezTo>
                  <a:lnTo>
                    <a:pt x="2025441" y="2467670"/>
                  </a:lnTo>
                  <a:cubicBezTo>
                    <a:pt x="2025441" y="2522766"/>
                    <a:pt x="1980777" y="2567430"/>
                    <a:pt x="1925681" y="2567430"/>
                  </a:cubicBezTo>
                  <a:lnTo>
                    <a:pt x="99760" y="2567430"/>
                  </a:lnTo>
                  <a:cubicBezTo>
                    <a:pt x="73302" y="2567430"/>
                    <a:pt x="47928" y="2556920"/>
                    <a:pt x="29219" y="2538211"/>
                  </a:cubicBezTo>
                  <a:cubicBezTo>
                    <a:pt x="10510" y="2519503"/>
                    <a:pt x="0" y="2494128"/>
                    <a:pt x="0" y="2467670"/>
                  </a:cubicBezTo>
                  <a:lnTo>
                    <a:pt x="0" y="99760"/>
                  </a:lnTo>
                  <a:cubicBezTo>
                    <a:pt x="0" y="73302"/>
                    <a:pt x="10510" y="47928"/>
                    <a:pt x="29219" y="29219"/>
                  </a:cubicBezTo>
                  <a:cubicBezTo>
                    <a:pt x="47928" y="10510"/>
                    <a:pt x="73302" y="0"/>
                    <a:pt x="9976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025440" cy="2605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303873" y="4290597"/>
            <a:ext cx="1281715" cy="1118587"/>
          </a:xfrm>
          <a:custGeom>
            <a:avLst/>
            <a:gdLst/>
            <a:ahLst/>
            <a:cxnLst/>
            <a:rect l="l" t="t" r="r" b="b"/>
            <a:pathLst>
              <a:path w="1281715" h="1118587">
                <a:moveTo>
                  <a:pt x="0" y="0"/>
                </a:moveTo>
                <a:lnTo>
                  <a:pt x="1281715" y="0"/>
                </a:lnTo>
                <a:lnTo>
                  <a:pt x="1281715" y="1118588"/>
                </a:lnTo>
                <a:lnTo>
                  <a:pt x="0" y="1118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738363" y="4290597"/>
            <a:ext cx="900971" cy="1118587"/>
          </a:xfrm>
          <a:custGeom>
            <a:avLst/>
            <a:gdLst/>
            <a:ahLst/>
            <a:cxnLst/>
            <a:rect l="l" t="t" r="r" b="b"/>
            <a:pathLst>
              <a:path w="900971" h="1118587">
                <a:moveTo>
                  <a:pt x="0" y="0"/>
                </a:moveTo>
                <a:lnTo>
                  <a:pt x="900971" y="0"/>
                </a:lnTo>
                <a:lnTo>
                  <a:pt x="900971" y="1118588"/>
                </a:lnTo>
                <a:lnTo>
                  <a:pt x="0" y="1118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034177" y="4290597"/>
            <a:ext cx="1296120" cy="1118587"/>
          </a:xfrm>
          <a:custGeom>
            <a:avLst/>
            <a:gdLst/>
            <a:ahLst/>
            <a:cxnLst/>
            <a:rect l="l" t="t" r="r" b="b"/>
            <a:pathLst>
              <a:path w="1296120" h="1118587">
                <a:moveTo>
                  <a:pt x="0" y="0"/>
                </a:moveTo>
                <a:lnTo>
                  <a:pt x="1296120" y="0"/>
                </a:lnTo>
                <a:lnTo>
                  <a:pt x="1296120" y="1118588"/>
                </a:lnTo>
                <a:lnTo>
                  <a:pt x="0" y="111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481089" y="4290597"/>
            <a:ext cx="1180850" cy="1118587"/>
          </a:xfrm>
          <a:custGeom>
            <a:avLst/>
            <a:gdLst/>
            <a:ahLst/>
            <a:cxnLst/>
            <a:rect l="l" t="t" r="r" b="b"/>
            <a:pathLst>
              <a:path w="1180850" h="1118587">
                <a:moveTo>
                  <a:pt x="0" y="0"/>
                </a:moveTo>
                <a:lnTo>
                  <a:pt x="1180850" y="0"/>
                </a:lnTo>
                <a:lnTo>
                  <a:pt x="1180850" y="1118588"/>
                </a:lnTo>
                <a:lnTo>
                  <a:pt x="0" y="11185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858438" y="2732494"/>
            <a:ext cx="10571124" cy="42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 b="1">
                <a:solidFill>
                  <a:srgbClr val="1A1A1A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of Increasing Replication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792653"/>
            <a:ext cx="16230600" cy="1006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</a:pPr>
            <a:r>
              <a:rPr lang="en-US" sz="699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Business and Technical Benefits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5459" y="6159210"/>
            <a:ext cx="3536913" cy="3099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5"/>
              </a:lnSpc>
            </a:pPr>
            <a:r>
              <a:rPr lang="en-US" sz="2525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Local r</a:t>
            </a:r>
            <a:r>
              <a:rPr lang="en-US" sz="2525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eplicas allow users to access nearby servers, reducing network travel time and improving response speed.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88849" y="6498884"/>
            <a:ext cx="3536913" cy="221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5"/>
              </a:lnSpc>
            </a:pPr>
            <a:r>
              <a:rPr lang="en-US" sz="2525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If on</a:t>
            </a:r>
            <a:r>
              <a:rPr lang="en-US" sz="2525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 server fails, other replicas continue serving requests without downtime.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62238" y="6380373"/>
            <a:ext cx="3536913" cy="265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5"/>
              </a:lnSpc>
            </a:pPr>
            <a:r>
              <a:rPr lang="en-US" sz="2525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525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ead requests are distributed across multiple replicas instead of overloading a few servers.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35628" y="5970228"/>
            <a:ext cx="3536913" cy="3540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35"/>
              </a:lnSpc>
            </a:pPr>
            <a:r>
              <a:rPr lang="en-US" sz="2525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</a:t>
            </a:r>
            <a:r>
              <a:rPr lang="en-US" sz="2525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 system will support future growth in users and transactions.</a:t>
            </a:r>
          </a:p>
          <a:p>
            <a:pPr marL="0" lvl="0" indent="0" algn="ctr">
              <a:lnSpc>
                <a:spcPts val="3535"/>
              </a:lnSpc>
            </a:pPr>
            <a:r>
              <a:rPr lang="en-US" sz="2525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Replication improves system resilience and ensures continuous operation.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6365" y="5162550"/>
            <a:ext cx="3815101" cy="107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8"/>
              </a:lnSpc>
            </a:pPr>
            <a:r>
              <a:rPr lang="en-US" sz="3928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Lower Latency: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47627" y="5162550"/>
            <a:ext cx="3815101" cy="107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8"/>
              </a:lnSpc>
            </a:pPr>
            <a:r>
              <a:rPr lang="en-US" sz="3928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High Availability: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2025" y="5162550"/>
            <a:ext cx="3815101" cy="107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8"/>
              </a:lnSpc>
            </a:pPr>
            <a:r>
              <a:rPr lang="en-US" sz="3928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Load Balancing: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28739" y="4881236"/>
            <a:ext cx="3815101" cy="107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8"/>
              </a:lnSpc>
            </a:pPr>
            <a:r>
              <a:rPr lang="en-US" sz="3928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Scalability &amp; Reliability: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62007" y="3246637"/>
            <a:ext cx="13563985" cy="424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Replication improves both performance and availability of enterprise database systems.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9830" y="1491912"/>
            <a:ext cx="5602151" cy="3750317"/>
            <a:chOff x="0" y="0"/>
            <a:chExt cx="1537789" cy="10294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7789" cy="1029461"/>
            </a:xfrm>
            <a:custGeom>
              <a:avLst/>
              <a:gdLst/>
              <a:ahLst/>
              <a:cxnLst/>
              <a:rect l="l" t="t" r="r" b="b"/>
              <a:pathLst>
                <a:path w="1537789" h="1029461">
                  <a:moveTo>
                    <a:pt x="70480" y="0"/>
                  </a:moveTo>
                  <a:lnTo>
                    <a:pt x="1467309" y="0"/>
                  </a:lnTo>
                  <a:cubicBezTo>
                    <a:pt x="1506234" y="0"/>
                    <a:pt x="1537789" y="31555"/>
                    <a:pt x="1537789" y="70480"/>
                  </a:cubicBezTo>
                  <a:lnTo>
                    <a:pt x="1537789" y="958981"/>
                  </a:lnTo>
                  <a:cubicBezTo>
                    <a:pt x="1537789" y="977674"/>
                    <a:pt x="1530364" y="995600"/>
                    <a:pt x="1517146" y="1008818"/>
                  </a:cubicBezTo>
                  <a:cubicBezTo>
                    <a:pt x="1503929" y="1022035"/>
                    <a:pt x="1486002" y="1029461"/>
                    <a:pt x="1467309" y="1029461"/>
                  </a:cubicBezTo>
                  <a:lnTo>
                    <a:pt x="70480" y="1029461"/>
                  </a:lnTo>
                  <a:cubicBezTo>
                    <a:pt x="51787" y="1029461"/>
                    <a:pt x="33861" y="1022035"/>
                    <a:pt x="20643" y="1008818"/>
                  </a:cubicBezTo>
                  <a:cubicBezTo>
                    <a:pt x="7426" y="995600"/>
                    <a:pt x="0" y="977674"/>
                    <a:pt x="0" y="958981"/>
                  </a:cubicBezTo>
                  <a:lnTo>
                    <a:pt x="0" y="70480"/>
                  </a:lnTo>
                  <a:cubicBezTo>
                    <a:pt x="0" y="51787"/>
                    <a:pt x="7426" y="33861"/>
                    <a:pt x="20643" y="20643"/>
                  </a:cubicBezTo>
                  <a:cubicBezTo>
                    <a:pt x="33861" y="7426"/>
                    <a:pt x="51787" y="0"/>
                    <a:pt x="7048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37789" cy="1067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06871" y="1653317"/>
            <a:ext cx="4852810" cy="3427506"/>
            <a:chOff x="0" y="0"/>
            <a:chExt cx="1332095" cy="9408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2095" cy="940849"/>
            </a:xfrm>
            <a:custGeom>
              <a:avLst/>
              <a:gdLst/>
              <a:ahLst/>
              <a:cxnLst/>
              <a:rect l="l" t="t" r="r" b="b"/>
              <a:pathLst>
                <a:path w="1332095" h="940849">
                  <a:moveTo>
                    <a:pt x="81363" y="0"/>
                  </a:moveTo>
                  <a:lnTo>
                    <a:pt x="1250732" y="0"/>
                  </a:lnTo>
                  <a:cubicBezTo>
                    <a:pt x="1272311" y="0"/>
                    <a:pt x="1293006" y="8572"/>
                    <a:pt x="1308265" y="23831"/>
                  </a:cubicBezTo>
                  <a:cubicBezTo>
                    <a:pt x="1323523" y="39089"/>
                    <a:pt x="1332095" y="59784"/>
                    <a:pt x="1332095" y="81363"/>
                  </a:cubicBezTo>
                  <a:lnTo>
                    <a:pt x="1332095" y="859487"/>
                  </a:lnTo>
                  <a:cubicBezTo>
                    <a:pt x="1332095" y="881065"/>
                    <a:pt x="1323523" y="901760"/>
                    <a:pt x="1308265" y="917019"/>
                  </a:cubicBezTo>
                  <a:cubicBezTo>
                    <a:pt x="1293006" y="932277"/>
                    <a:pt x="1272311" y="940849"/>
                    <a:pt x="1250732" y="940849"/>
                  </a:cubicBezTo>
                  <a:lnTo>
                    <a:pt x="81363" y="940849"/>
                  </a:lnTo>
                  <a:cubicBezTo>
                    <a:pt x="59784" y="940849"/>
                    <a:pt x="39089" y="932277"/>
                    <a:pt x="23831" y="917019"/>
                  </a:cubicBezTo>
                  <a:cubicBezTo>
                    <a:pt x="8572" y="901760"/>
                    <a:pt x="0" y="881065"/>
                    <a:pt x="0" y="859487"/>
                  </a:cubicBezTo>
                  <a:lnTo>
                    <a:pt x="0" y="81363"/>
                  </a:lnTo>
                  <a:cubicBezTo>
                    <a:pt x="0" y="59784"/>
                    <a:pt x="8572" y="39089"/>
                    <a:pt x="23831" y="23831"/>
                  </a:cubicBezTo>
                  <a:cubicBezTo>
                    <a:pt x="39089" y="8572"/>
                    <a:pt x="59784" y="0"/>
                    <a:pt x="81363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2095" cy="978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87421" y="6063845"/>
            <a:ext cx="5505830" cy="3499777"/>
            <a:chOff x="0" y="0"/>
            <a:chExt cx="1511349" cy="9606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1349" cy="960688"/>
            </a:xfrm>
            <a:custGeom>
              <a:avLst/>
              <a:gdLst/>
              <a:ahLst/>
              <a:cxnLst/>
              <a:rect l="l" t="t" r="r" b="b"/>
              <a:pathLst>
                <a:path w="1511349" h="960688">
                  <a:moveTo>
                    <a:pt x="71713" y="0"/>
                  </a:moveTo>
                  <a:lnTo>
                    <a:pt x="1439636" y="0"/>
                  </a:lnTo>
                  <a:cubicBezTo>
                    <a:pt x="1479242" y="0"/>
                    <a:pt x="1511349" y="32107"/>
                    <a:pt x="1511349" y="71713"/>
                  </a:cubicBezTo>
                  <a:lnTo>
                    <a:pt x="1511349" y="888975"/>
                  </a:lnTo>
                  <a:cubicBezTo>
                    <a:pt x="1511349" y="928581"/>
                    <a:pt x="1479242" y="960688"/>
                    <a:pt x="1439636" y="960688"/>
                  </a:cubicBezTo>
                  <a:lnTo>
                    <a:pt x="71713" y="960688"/>
                  </a:lnTo>
                  <a:cubicBezTo>
                    <a:pt x="32107" y="960688"/>
                    <a:pt x="0" y="928581"/>
                    <a:pt x="0" y="888975"/>
                  </a:cubicBezTo>
                  <a:lnTo>
                    <a:pt x="0" y="71713"/>
                  </a:lnTo>
                  <a:cubicBezTo>
                    <a:pt x="0" y="32107"/>
                    <a:pt x="32107" y="0"/>
                    <a:pt x="71713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11349" cy="998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90840" y="895072"/>
            <a:ext cx="1457091" cy="1459207"/>
            <a:chOff x="0" y="0"/>
            <a:chExt cx="404783" cy="4053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4783" cy="405371"/>
            </a:xfrm>
            <a:custGeom>
              <a:avLst/>
              <a:gdLst/>
              <a:ahLst/>
              <a:cxnLst/>
              <a:rect l="l" t="t" r="r" b="b"/>
              <a:pathLst>
                <a:path w="404783" h="405371">
                  <a:moveTo>
                    <a:pt x="202392" y="0"/>
                  </a:moveTo>
                  <a:lnTo>
                    <a:pt x="202392" y="0"/>
                  </a:lnTo>
                  <a:cubicBezTo>
                    <a:pt x="256069" y="0"/>
                    <a:pt x="307548" y="21323"/>
                    <a:pt x="345504" y="59279"/>
                  </a:cubicBezTo>
                  <a:cubicBezTo>
                    <a:pt x="383460" y="97235"/>
                    <a:pt x="404783" y="148714"/>
                    <a:pt x="404783" y="202392"/>
                  </a:cubicBezTo>
                  <a:lnTo>
                    <a:pt x="404783" y="202980"/>
                  </a:lnTo>
                  <a:cubicBezTo>
                    <a:pt x="404783" y="314757"/>
                    <a:pt x="314169" y="405371"/>
                    <a:pt x="202392" y="405371"/>
                  </a:cubicBezTo>
                  <a:lnTo>
                    <a:pt x="202392" y="405371"/>
                  </a:lnTo>
                  <a:cubicBezTo>
                    <a:pt x="148714" y="405371"/>
                    <a:pt x="97235" y="384048"/>
                    <a:pt x="59279" y="346092"/>
                  </a:cubicBezTo>
                  <a:cubicBezTo>
                    <a:pt x="21323" y="308136"/>
                    <a:pt x="0" y="256657"/>
                    <a:pt x="0" y="202980"/>
                  </a:cubicBezTo>
                  <a:lnTo>
                    <a:pt x="0" y="202392"/>
                  </a:lnTo>
                  <a:cubicBezTo>
                    <a:pt x="0" y="90614"/>
                    <a:pt x="90614" y="0"/>
                    <a:pt x="202392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4783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79758" y="923714"/>
            <a:ext cx="1479923" cy="1459207"/>
            <a:chOff x="0" y="0"/>
            <a:chExt cx="411126" cy="4053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1126" cy="405371"/>
            </a:xfrm>
            <a:custGeom>
              <a:avLst/>
              <a:gdLst/>
              <a:ahLst/>
              <a:cxnLst/>
              <a:rect l="l" t="t" r="r" b="b"/>
              <a:pathLst>
                <a:path w="411126" h="405371">
                  <a:moveTo>
                    <a:pt x="202686" y="0"/>
                  </a:moveTo>
                  <a:lnTo>
                    <a:pt x="208441" y="0"/>
                  </a:lnTo>
                  <a:cubicBezTo>
                    <a:pt x="262196" y="0"/>
                    <a:pt x="313750" y="21354"/>
                    <a:pt x="351761" y="59365"/>
                  </a:cubicBezTo>
                  <a:cubicBezTo>
                    <a:pt x="389772" y="97376"/>
                    <a:pt x="411126" y="148930"/>
                    <a:pt x="411126" y="202686"/>
                  </a:cubicBezTo>
                  <a:lnTo>
                    <a:pt x="411126" y="202686"/>
                  </a:lnTo>
                  <a:cubicBezTo>
                    <a:pt x="411126" y="256441"/>
                    <a:pt x="389772" y="307995"/>
                    <a:pt x="351761" y="346006"/>
                  </a:cubicBezTo>
                  <a:cubicBezTo>
                    <a:pt x="313750" y="384017"/>
                    <a:pt x="262196" y="405371"/>
                    <a:pt x="208441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11126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64691" y="5380591"/>
            <a:ext cx="1428560" cy="1459207"/>
            <a:chOff x="0" y="0"/>
            <a:chExt cx="396857" cy="4053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6857" cy="405371"/>
            </a:xfrm>
            <a:custGeom>
              <a:avLst/>
              <a:gdLst/>
              <a:ahLst/>
              <a:cxnLst/>
              <a:rect l="l" t="t" r="r" b="b"/>
              <a:pathLst>
                <a:path w="396857" h="405371">
                  <a:moveTo>
                    <a:pt x="198429" y="0"/>
                  </a:moveTo>
                  <a:lnTo>
                    <a:pt x="198429" y="0"/>
                  </a:lnTo>
                  <a:cubicBezTo>
                    <a:pt x="251055" y="0"/>
                    <a:pt x="301526" y="20906"/>
                    <a:pt x="338739" y="58118"/>
                  </a:cubicBezTo>
                  <a:cubicBezTo>
                    <a:pt x="375952" y="95331"/>
                    <a:pt x="396857" y="145802"/>
                    <a:pt x="396857" y="198429"/>
                  </a:cubicBezTo>
                  <a:lnTo>
                    <a:pt x="396857" y="206943"/>
                  </a:lnTo>
                  <a:cubicBezTo>
                    <a:pt x="396857" y="316532"/>
                    <a:pt x="308018" y="405371"/>
                    <a:pt x="198429" y="405371"/>
                  </a:cubicBezTo>
                  <a:lnTo>
                    <a:pt x="198429" y="405371"/>
                  </a:lnTo>
                  <a:cubicBezTo>
                    <a:pt x="145802" y="405371"/>
                    <a:pt x="95331" y="384465"/>
                    <a:pt x="58118" y="347253"/>
                  </a:cubicBezTo>
                  <a:cubicBezTo>
                    <a:pt x="20906" y="310040"/>
                    <a:pt x="0" y="259569"/>
                    <a:pt x="0" y="206943"/>
                  </a:cubicBezTo>
                  <a:lnTo>
                    <a:pt x="0" y="198429"/>
                  </a:lnTo>
                  <a:cubicBezTo>
                    <a:pt x="0" y="88840"/>
                    <a:pt x="88840" y="0"/>
                    <a:pt x="198429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96857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624058"/>
            <a:ext cx="5900323" cy="2882633"/>
            <a:chOff x="0" y="0"/>
            <a:chExt cx="1639124" cy="8008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39124" cy="800803"/>
            </a:xfrm>
            <a:custGeom>
              <a:avLst/>
              <a:gdLst/>
              <a:ahLst/>
              <a:cxnLst/>
              <a:rect l="l" t="t" r="r" b="b"/>
              <a:pathLst>
                <a:path w="1639124" h="800803">
                  <a:moveTo>
                    <a:pt x="66918" y="0"/>
                  </a:moveTo>
                  <a:lnTo>
                    <a:pt x="1572206" y="0"/>
                  </a:lnTo>
                  <a:cubicBezTo>
                    <a:pt x="1609164" y="0"/>
                    <a:pt x="1639124" y="29960"/>
                    <a:pt x="1639124" y="66918"/>
                  </a:cubicBezTo>
                  <a:lnTo>
                    <a:pt x="1639124" y="733885"/>
                  </a:lnTo>
                  <a:cubicBezTo>
                    <a:pt x="1639124" y="751632"/>
                    <a:pt x="1632074" y="768653"/>
                    <a:pt x="1619524" y="781203"/>
                  </a:cubicBezTo>
                  <a:cubicBezTo>
                    <a:pt x="1606975" y="793752"/>
                    <a:pt x="1589954" y="800803"/>
                    <a:pt x="1572206" y="800803"/>
                  </a:cubicBezTo>
                  <a:lnTo>
                    <a:pt x="66918" y="800803"/>
                  </a:lnTo>
                  <a:cubicBezTo>
                    <a:pt x="49170" y="800803"/>
                    <a:pt x="32149" y="793752"/>
                    <a:pt x="19600" y="781203"/>
                  </a:cubicBezTo>
                  <a:cubicBezTo>
                    <a:pt x="7050" y="768653"/>
                    <a:pt x="0" y="751632"/>
                    <a:pt x="0" y="733885"/>
                  </a:cubicBezTo>
                  <a:lnTo>
                    <a:pt x="0" y="66918"/>
                  </a:lnTo>
                  <a:cubicBezTo>
                    <a:pt x="0" y="49170"/>
                    <a:pt x="7050" y="32149"/>
                    <a:pt x="19600" y="19600"/>
                  </a:cubicBezTo>
                  <a:cubicBezTo>
                    <a:pt x="32149" y="7050"/>
                    <a:pt x="49170" y="0"/>
                    <a:pt x="66918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39124" cy="83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623799" y="1239014"/>
            <a:ext cx="1191172" cy="71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14801" y="1267656"/>
            <a:ext cx="1209838" cy="71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4432" y="5724525"/>
            <a:ext cx="1018009" cy="71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91015" y="1631985"/>
            <a:ext cx="5170599" cy="126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Infrastructure Costs: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43381" y="1923268"/>
            <a:ext cx="3853654" cy="126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Replication Delay: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86105" y="6321966"/>
            <a:ext cx="4633280" cy="126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System Complexity: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203656" y="2860623"/>
            <a:ext cx="5528581" cy="2501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Seven additional database servers required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Increased cloud or hardware expenses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Additional storage requirements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Higher network usage costs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Maintenance and monitoring costs</a:t>
            </a:r>
          </a:p>
          <a:p>
            <a:pPr marL="0" lvl="0" indent="0" algn="l">
              <a:lnSpc>
                <a:spcPts val="2820"/>
              </a:lnSpc>
            </a:pPr>
            <a:endParaRPr lang="en-US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006871" y="3128108"/>
            <a:ext cx="4997855" cy="214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Asynchronous replication may cause temporary data inconsistency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Some replicas may briefly show older data</a:t>
            </a:r>
          </a:p>
          <a:p>
            <a:pPr marL="0" lvl="0" indent="0" algn="l">
              <a:lnSpc>
                <a:spcPts val="2820"/>
              </a:lnSpc>
            </a:pPr>
            <a:endParaRPr lang="en-US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498810" y="7674557"/>
            <a:ext cx="4955009" cy="178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More servers require additional monitoring and administration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Increased configuration complexity</a:t>
            </a:r>
          </a:p>
          <a:p>
            <a:pPr marL="0" lvl="0" indent="0" algn="l">
              <a:lnSpc>
                <a:spcPts val="2820"/>
              </a:lnSpc>
            </a:pPr>
            <a:endParaRPr lang="en-US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01203" y="733147"/>
            <a:ext cx="4892367" cy="180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Cost and Risk Analysis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88" y="4229701"/>
            <a:ext cx="5929358" cy="5887404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3214386" y="9584893"/>
            <a:ext cx="3278371" cy="50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7"/>
              </a:lnSpc>
            </a:pPr>
            <a:r>
              <a:rPr lang="en-US" sz="308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Configuration</a:t>
            </a:r>
          </a:p>
        </p:txBody>
      </p:sp>
      <p:sp>
        <p:nvSpPr>
          <p:cNvPr id="35" name="TextBox 35"/>
          <p:cNvSpPr txBox="1"/>
          <p:nvPr/>
        </p:nvSpPr>
        <p:spPr>
          <a:xfrm rot="-5400000">
            <a:off x="-500847" y="6354065"/>
            <a:ext cx="3765999" cy="505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07"/>
              </a:lnSpc>
            </a:pPr>
            <a:r>
              <a:rPr lang="en-US" sz="308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Miliseconds (ms)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1203" y="2555362"/>
            <a:ext cx="5527820" cy="362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Costs and Risk Considerations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059948" y="5921633"/>
            <a:ext cx="4891703" cy="3641988"/>
            <a:chOff x="0" y="0"/>
            <a:chExt cx="1342771" cy="99972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42771" cy="999725"/>
            </a:xfrm>
            <a:custGeom>
              <a:avLst/>
              <a:gdLst/>
              <a:ahLst/>
              <a:cxnLst/>
              <a:rect l="l" t="t" r="r" b="b"/>
              <a:pathLst>
                <a:path w="1342771" h="999725">
                  <a:moveTo>
                    <a:pt x="80716" y="0"/>
                  </a:moveTo>
                  <a:lnTo>
                    <a:pt x="1262055" y="0"/>
                  </a:lnTo>
                  <a:cubicBezTo>
                    <a:pt x="1283462" y="0"/>
                    <a:pt x="1303993" y="8504"/>
                    <a:pt x="1319130" y="23641"/>
                  </a:cubicBezTo>
                  <a:cubicBezTo>
                    <a:pt x="1334267" y="38778"/>
                    <a:pt x="1342771" y="59309"/>
                    <a:pt x="1342771" y="80716"/>
                  </a:cubicBezTo>
                  <a:lnTo>
                    <a:pt x="1342771" y="919009"/>
                  </a:lnTo>
                  <a:cubicBezTo>
                    <a:pt x="1342771" y="940416"/>
                    <a:pt x="1334267" y="960946"/>
                    <a:pt x="1319130" y="976084"/>
                  </a:cubicBezTo>
                  <a:cubicBezTo>
                    <a:pt x="1303993" y="991221"/>
                    <a:pt x="1283462" y="999725"/>
                    <a:pt x="1262055" y="999725"/>
                  </a:cubicBezTo>
                  <a:lnTo>
                    <a:pt x="80716" y="999725"/>
                  </a:lnTo>
                  <a:cubicBezTo>
                    <a:pt x="59309" y="999725"/>
                    <a:pt x="38778" y="991221"/>
                    <a:pt x="23641" y="976084"/>
                  </a:cubicBezTo>
                  <a:cubicBezTo>
                    <a:pt x="8504" y="960946"/>
                    <a:pt x="0" y="940416"/>
                    <a:pt x="0" y="919009"/>
                  </a:cubicBezTo>
                  <a:lnTo>
                    <a:pt x="0" y="80716"/>
                  </a:lnTo>
                  <a:cubicBezTo>
                    <a:pt x="0" y="59309"/>
                    <a:pt x="8504" y="38778"/>
                    <a:pt x="23641" y="23641"/>
                  </a:cubicBezTo>
                  <a:cubicBezTo>
                    <a:pt x="38778" y="8504"/>
                    <a:pt x="59309" y="0"/>
                    <a:pt x="80716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342771" cy="103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501611" y="5380591"/>
            <a:ext cx="1450039" cy="1459207"/>
            <a:chOff x="0" y="0"/>
            <a:chExt cx="402824" cy="4053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2824" cy="405371"/>
            </a:xfrm>
            <a:custGeom>
              <a:avLst/>
              <a:gdLst/>
              <a:ahLst/>
              <a:cxnLst/>
              <a:rect l="l" t="t" r="r" b="b"/>
              <a:pathLst>
                <a:path w="402824" h="405371">
                  <a:moveTo>
                    <a:pt x="201412" y="0"/>
                  </a:moveTo>
                  <a:lnTo>
                    <a:pt x="201412" y="0"/>
                  </a:lnTo>
                  <a:cubicBezTo>
                    <a:pt x="312649" y="0"/>
                    <a:pt x="402824" y="90175"/>
                    <a:pt x="402824" y="201412"/>
                  </a:cubicBezTo>
                  <a:lnTo>
                    <a:pt x="402824" y="203959"/>
                  </a:lnTo>
                  <a:cubicBezTo>
                    <a:pt x="402824" y="315196"/>
                    <a:pt x="312649" y="405371"/>
                    <a:pt x="201412" y="405371"/>
                  </a:cubicBezTo>
                  <a:lnTo>
                    <a:pt x="201412" y="405371"/>
                  </a:lnTo>
                  <a:cubicBezTo>
                    <a:pt x="90175" y="405371"/>
                    <a:pt x="0" y="315196"/>
                    <a:pt x="0" y="203959"/>
                  </a:cubicBezTo>
                  <a:lnTo>
                    <a:pt x="0" y="201412"/>
                  </a:lnTo>
                  <a:cubicBezTo>
                    <a:pt x="0" y="90175"/>
                    <a:pt x="90175" y="0"/>
                    <a:pt x="201412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02824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6774401" y="5785496"/>
            <a:ext cx="904459" cy="71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375037" y="6182552"/>
            <a:ext cx="4116479" cy="1266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System Complexity: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304639" y="7419013"/>
            <a:ext cx="4402321" cy="214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More servers require additional monitoring and administration</a:t>
            </a:r>
          </a:p>
          <a:p>
            <a:pPr marL="435018" lvl="1" indent="-217509" algn="l">
              <a:lnSpc>
                <a:spcPts val="2820"/>
              </a:lnSpc>
              <a:buFont typeface="Arial"/>
              <a:buChar char="•"/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Increased configuration complexity</a:t>
            </a:r>
          </a:p>
          <a:p>
            <a:pPr marL="0" lvl="0" indent="0" algn="l">
              <a:lnSpc>
                <a:spcPts val="2820"/>
              </a:lnSpc>
            </a:pPr>
            <a:endParaRPr lang="en-US" sz="2014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24803" y="6012126"/>
            <a:ext cx="3579538" cy="1619480"/>
            <a:chOff x="0" y="0"/>
            <a:chExt cx="942759" cy="426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2759" cy="426530"/>
            </a:xfrm>
            <a:custGeom>
              <a:avLst/>
              <a:gdLst/>
              <a:ahLst/>
              <a:cxnLst/>
              <a:rect l="l" t="t" r="r" b="b"/>
              <a:pathLst>
                <a:path w="942759" h="426530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10568" y="6012126"/>
            <a:ext cx="5952629" cy="1619480"/>
            <a:chOff x="0" y="0"/>
            <a:chExt cx="1567771" cy="426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67771" cy="426530"/>
            </a:xfrm>
            <a:custGeom>
              <a:avLst/>
              <a:gdLst/>
              <a:ahLst/>
              <a:cxnLst/>
              <a:rect l="l" t="t" r="r" b="b"/>
              <a:pathLst>
                <a:path w="1567771" h="426530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93967" y="2544439"/>
            <a:ext cx="15700066" cy="294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sz="16243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061094"/>
            <a:ext cx="162306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FOR YOUR TIME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75835" y="6524051"/>
            <a:ext cx="5422095" cy="50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coderujwal@gmail.com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91855" y="6524051"/>
            <a:ext cx="3045434" cy="50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Ujwal Singh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cp:revision>9</cp:revision>
  <dcterms:created xsi:type="dcterms:W3CDTF">2006-08-16T00:00:00Z</dcterms:created>
  <dcterms:modified xsi:type="dcterms:W3CDTF">2026-02-25T04:56:00Z</dcterms:modified>
  <dc:identifier>DAHCNRezNF8</dc:identifier>
</cp:coreProperties>
</file>